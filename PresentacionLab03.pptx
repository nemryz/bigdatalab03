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67" r:id="rId5"/>
    <p:sldId id="277" r:id="rId6"/>
    <p:sldId id="260" r:id="rId7"/>
    <p:sldId id="261" r:id="rId8"/>
    <p:sldId id="262" r:id="rId9"/>
    <p:sldId id="263" r:id="rId10"/>
    <p:sldId id="264" r:id="rId11"/>
    <p:sldId id="278" r:id="rId12"/>
    <p:sldId id="265" r:id="rId13"/>
    <p:sldId id="266" r:id="rId14"/>
    <p:sldId id="279" r:id="rId1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ABABE-C6F0-4EDA-F8FD-E021C2E2FF45}" v="2" dt="2026-10-03T17:45:18.663"/>
    <p1510:client id="{64FF67D4-E29F-EE67-8398-BF510B72BDFC}" v="121" dt="2026-10-04T23:53:29.810"/>
    <p1510:client id="{65EADD0C-E9BD-29F7-652D-2ACABC84ABA3}" v="39" dt="2026-10-04T23:22:25.737"/>
    <p1510:client id="{F99298AF-E894-4939-1793-4E8026F110F6}" v="166" dt="2026-10-04T22:03:39.5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427121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96027F-7875-4030-9381-8BD8C4F21935}" type="datetimeFigureOut">
              <a:rPr lang="en-US" dirty="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1359087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4052518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dirty="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1445817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dirty="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431591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10/4/2026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250736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10/4/2026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3481416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10/4/2026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4087543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3746898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4155176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760549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1780530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2179960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368297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2446791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697867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a:p>
        </p:txBody>
      </p:sp>
    </p:spTree>
    <p:extLst>
      <p:ext uri="{BB962C8B-B14F-4D97-AF65-F5344CB8AC3E}">
        <p14:creationId xmlns:p14="http://schemas.microsoft.com/office/powerpoint/2010/main" val="1427607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10/4/2026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‹Nº›</a:t>
            </a:fld>
            <a:endParaRPr lang="en-US"/>
          </a:p>
        </p:txBody>
      </p:sp>
    </p:spTree>
    <p:extLst>
      <p:ext uri="{BB962C8B-B14F-4D97-AF65-F5344CB8AC3E}">
        <p14:creationId xmlns:p14="http://schemas.microsoft.com/office/powerpoint/2010/main" val="421641245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www.manning.com/books/big-data" TargetMode="External"/><Relationship Id="rId13" Type="http://schemas.openxmlformats.org/officeDocument/2006/relationships/hyperlink" Target="https://www.who.int/europe/publications/i/item/9289021926" TargetMode="External"/><Relationship Id="rId3" Type="http://schemas.openxmlformats.org/officeDocument/2006/relationships/hyperlink" Target="https://kafka.apache.org/documentation" TargetMode="External"/><Relationship Id="rId7" Type="http://schemas.openxmlformats.org/officeDocument/2006/relationships/hyperlink" Target="https://www.oreilly.com/radar/questioning-the-lambda-architecture" TargetMode="External"/><Relationship Id="rId12" Type="http://schemas.openxmlformats.org/officeDocument/2006/relationships/hyperlink" Target="https://sqlite.org/about.html" TargetMode="External"/><Relationship Id="rId2" Type="http://schemas.openxmlformats.org/officeDocument/2006/relationships/hyperlink" Target="https://doi.org/10.14778/2824032.2824076" TargetMode="External"/><Relationship Id="rId1" Type="http://schemas.openxmlformats.org/officeDocument/2006/relationships/slideLayout" Target="../slideLayouts/slideLayout2.xml"/><Relationship Id="rId6" Type="http://schemas.openxmlformats.org/officeDocument/2006/relationships/hyperlink" Target="https://spark.apache.org/docs/latest/streaming/index.html" TargetMode="External"/><Relationship Id="rId11" Type="http://schemas.openxmlformats.org/officeDocument/2006/relationships/hyperlink" Target="https://open-mete.com/en/docs/air-quality-api" TargetMode="External"/><Relationship Id="rId5" Type="http://schemas.openxmlformats.org/officeDocument/2006/relationships/hyperlink" Target="https://kafka.apache.org/40/getting.started/zk2kraft" TargetMode="External"/><Relationship Id="rId10" Type="http://schemas.openxmlformats.org/officeDocument/2006/relationships/hyperlink" Target="https://doi.org/10.6028/NIST.FIPS.180-4" TargetMode="External"/><Relationship Id="rId4" Type="http://schemas.openxmlformats.org/officeDocument/2006/relationships/hyperlink" Target="https://parquet.apache.org/docs" TargetMode="External"/><Relationship Id="rId9" Type="http://schemas.openxmlformats.org/officeDocument/2006/relationships/hyperlink" Target="https://www.bcn.cl/leychile/navegar?idNorma=1025202" TargetMode="External"/><Relationship Id="rId14" Type="http://schemas.openxmlformats.org/officeDocument/2006/relationships/hyperlink" Target="https://www.who.int/publications/i/item/978924003422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CL" sz="4400" noProof="0" dirty="0">
                <a:ea typeface="+mj-lt"/>
                <a:cs typeface="+mj-lt"/>
              </a:rPr>
              <a:t>Laboratorio 3: Arquitectura Lambda para el monitoreo y análisis de la calidad del aire.</a:t>
            </a:r>
            <a:endParaRPr lang="es-CL" sz="4400" noProof="0" dirty="0"/>
          </a:p>
        </p:txBody>
      </p:sp>
      <p:sp>
        <p:nvSpPr>
          <p:cNvPr id="3" name="Subtítulo 2"/>
          <p:cNvSpPr>
            <a:spLocks noGrp="1"/>
          </p:cNvSpPr>
          <p:nvPr>
            <p:ph type="subTitle" idx="1"/>
          </p:nvPr>
        </p:nvSpPr>
        <p:spPr/>
        <p:txBody>
          <a:bodyPr/>
          <a:lstStyle/>
          <a:p>
            <a:r>
              <a:rPr lang="es-CL" noProof="0" dirty="0"/>
              <a:t>Integrantes: </a:t>
            </a:r>
            <a:r>
              <a:rPr lang="es-CL" noProof="0" dirty="0">
                <a:ea typeface="+mj-lt"/>
                <a:cs typeface="+mj-lt"/>
              </a:rPr>
              <a:t>Ignacio Ampuero, Engel Falcón, Santiago Herrera, Matías Huerta</a:t>
            </a:r>
          </a:p>
        </p:txBody>
      </p:sp>
      <p:pic>
        <p:nvPicPr>
          <p:cNvPr id="5" name="Picture 4" descr="Recursos de comunicación - Universidad Autónoma de Chile">
            <a:extLst>
              <a:ext uri="{FF2B5EF4-FFF2-40B4-BE49-F238E27FC236}">
                <a16:creationId xmlns:a16="http://schemas.microsoft.com/office/drawing/2014/main" id="{A3008584-893E-7D15-162B-179A206686FC}"/>
              </a:ext>
            </a:extLst>
          </p:cNvPr>
          <p:cNvPicPr>
            <a:picLocks noChangeAspect="1"/>
          </p:cNvPicPr>
          <p:nvPr/>
        </p:nvPicPr>
        <p:blipFill>
          <a:blip r:embed="rId2"/>
          <a:stretch>
            <a:fillRect/>
          </a:stretch>
        </p:blipFill>
        <p:spPr>
          <a:xfrm>
            <a:off x="10088730" y="-3509"/>
            <a:ext cx="2101015" cy="1139993"/>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15B93-1C62-7562-97A4-7794F2B8976E}"/>
              </a:ext>
            </a:extLst>
          </p:cNvPr>
          <p:cNvSpPr>
            <a:spLocks noGrp="1"/>
          </p:cNvSpPr>
          <p:nvPr>
            <p:ph type="title"/>
          </p:nvPr>
        </p:nvSpPr>
        <p:spPr/>
        <p:txBody>
          <a:bodyPr/>
          <a:lstStyle/>
          <a:p>
            <a:r>
              <a:rPr lang="es-CL" noProof="0" dirty="0">
                <a:ea typeface="+mj-lt"/>
                <a:cs typeface="+mj-lt"/>
              </a:rPr>
              <a:t>El Problema y Nuestro Objetivo</a:t>
            </a:r>
            <a:endParaRPr lang="es-CL" noProof="0" dirty="0"/>
          </a:p>
        </p:txBody>
      </p:sp>
      <p:sp>
        <p:nvSpPr>
          <p:cNvPr id="8" name="Content Placeholder 7">
            <a:extLst>
              <a:ext uri="{FF2B5EF4-FFF2-40B4-BE49-F238E27FC236}">
                <a16:creationId xmlns:a16="http://schemas.microsoft.com/office/drawing/2014/main" id="{F3A23367-B1F7-1DAB-D0AA-653194EDA275}"/>
              </a:ext>
            </a:extLst>
          </p:cNvPr>
          <p:cNvSpPr>
            <a:spLocks noGrp="1"/>
          </p:cNvSpPr>
          <p:nvPr>
            <p:ph idx="1"/>
          </p:nvPr>
        </p:nvSpPr>
        <p:spPr/>
        <p:txBody>
          <a:bodyPr vert="horz" lIns="91440" tIns="45720" rIns="91440" bIns="45720" rtlCol="0" anchor="t">
            <a:normAutofit lnSpcReduction="10000"/>
          </a:bodyPr>
          <a:lstStyle/>
          <a:p>
            <a:r>
              <a:rPr lang="es-CL" noProof="0" dirty="0">
                <a:ea typeface="+mj-lt"/>
                <a:cs typeface="+mj-lt"/>
              </a:rPr>
              <a:t>La calidad del aire de las ciudades está empeorando y las horas de contaminación se acumulan por encima de los valores guía de las entidades regulatorias internacionales, la OMS. Inicialmente fue en 2005 de un rango máximo de PM2.5 en promedio en 24 horas, luego en 2021 lo actualizó a 15 microgramos por metro cúbico, es decir, si se mide con la norma chilena, es peor a lo que estaba en su inicio. La norma chilena más laxa permite 50 microgramos por metro cúbico.</a:t>
            </a:r>
          </a:p>
          <a:p>
            <a:r>
              <a:rPr lang="es-CL" dirty="0">
                <a:ea typeface="+mj-lt"/>
                <a:cs typeface="+mj-lt"/>
              </a:rPr>
              <a:t>En la semana medida, 111 de las 672 horas superaron el umbral de 25 microgramos por metro cúbico, o </a:t>
            </a:r>
            <a:r>
              <a:rPr lang="es-CL" dirty="0" err="1">
                <a:ea typeface="+mj-lt"/>
                <a:cs typeface="+mj-lt"/>
              </a:rPr>
              <a:t>seal</a:t>
            </a:r>
            <a:r>
              <a:rPr lang="es-CL" dirty="0">
                <a:ea typeface="+mj-lt"/>
                <a:cs typeface="+mj-lt"/>
              </a:rPr>
              <a:t> el 16.5% del tiempo. </a:t>
            </a:r>
          </a:p>
          <a:p>
            <a:r>
              <a:rPr lang="es-CL" noProof="0" dirty="0">
                <a:ea typeface="+mj-lt"/>
                <a:cs typeface="+mj-lt"/>
              </a:rPr>
              <a:t>Nuestro objetivo ha sido crear un pipeline basado en arquitectura lambda funcional de punta a punta para monitorear la calidad del aire en cuatro ciudades. </a:t>
            </a:r>
          </a:p>
        </p:txBody>
      </p:sp>
      <p:pic>
        <p:nvPicPr>
          <p:cNvPr id="6" name="Picture 5" descr="Recursos de comunicación - Universidad Autónoma de Chile">
            <a:extLst>
              <a:ext uri="{FF2B5EF4-FFF2-40B4-BE49-F238E27FC236}">
                <a16:creationId xmlns:a16="http://schemas.microsoft.com/office/drawing/2014/main" id="{B5E83BC7-4945-1880-4ADD-8756DBFAC740}"/>
              </a:ext>
            </a:extLst>
          </p:cNvPr>
          <p:cNvPicPr>
            <a:picLocks noChangeAspect="1"/>
          </p:cNvPicPr>
          <p:nvPr/>
        </p:nvPicPr>
        <p:blipFill>
          <a:blip r:embed="rId2"/>
          <a:stretch>
            <a:fillRect/>
          </a:stretch>
        </p:blipFill>
        <p:spPr>
          <a:xfrm>
            <a:off x="10088730" y="-3509"/>
            <a:ext cx="2101015" cy="1139993"/>
          </a:xfrm>
          <a:prstGeom prst="rect">
            <a:avLst/>
          </a:prstGeom>
        </p:spPr>
      </p:pic>
    </p:spTree>
    <p:extLst>
      <p:ext uri="{BB962C8B-B14F-4D97-AF65-F5344CB8AC3E}">
        <p14:creationId xmlns:p14="http://schemas.microsoft.com/office/powerpoint/2010/main" val="3966935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7E9D4-BDBA-9536-9E3C-CFB28FDCE78D}"/>
              </a:ext>
            </a:extLst>
          </p:cNvPr>
          <p:cNvSpPr>
            <a:spLocks noGrp="1"/>
          </p:cNvSpPr>
          <p:nvPr>
            <p:ph type="title"/>
          </p:nvPr>
        </p:nvSpPr>
        <p:spPr/>
        <p:txBody>
          <a:bodyPr/>
          <a:lstStyle/>
          <a:p>
            <a:r>
              <a:rPr lang="es-CL" noProof="0" dirty="0">
                <a:ea typeface="+mj-lt"/>
                <a:cs typeface="+mj-lt"/>
              </a:rPr>
              <a:t>¿Por qué Lambda frente a Kappa o </a:t>
            </a:r>
            <a:r>
              <a:rPr lang="es-CL" noProof="0" dirty="0" err="1">
                <a:ea typeface="+mj-lt"/>
                <a:cs typeface="+mj-lt"/>
              </a:rPr>
              <a:t>Lakehouse</a:t>
            </a:r>
            <a:r>
              <a:rPr lang="es-CL" noProof="0" dirty="0">
                <a:ea typeface="+mj-lt"/>
                <a:cs typeface="+mj-lt"/>
              </a:rPr>
              <a:t>?</a:t>
            </a:r>
            <a:endParaRPr lang="es-CL" noProof="0" dirty="0"/>
          </a:p>
        </p:txBody>
      </p:sp>
      <p:sp>
        <p:nvSpPr>
          <p:cNvPr id="3" name="Content Placeholder 2">
            <a:extLst>
              <a:ext uri="{FF2B5EF4-FFF2-40B4-BE49-F238E27FC236}">
                <a16:creationId xmlns:a16="http://schemas.microsoft.com/office/drawing/2014/main" id="{42FE06D8-DD61-6F26-B7ED-8B840B77C71B}"/>
              </a:ext>
            </a:extLst>
          </p:cNvPr>
          <p:cNvSpPr>
            <a:spLocks noGrp="1"/>
          </p:cNvSpPr>
          <p:nvPr>
            <p:ph idx="1"/>
          </p:nvPr>
        </p:nvSpPr>
        <p:spPr/>
        <p:txBody>
          <a:bodyPr vert="horz" lIns="91440" tIns="45720" rIns="91440" bIns="45720" rtlCol="0" anchor="t">
            <a:normAutofit/>
          </a:bodyPr>
          <a:lstStyle/>
          <a:p>
            <a:pPr algn="just"/>
            <a:r>
              <a:rPr lang="es-CL" b="1" noProof="0" dirty="0">
                <a:ea typeface="+mj-lt"/>
                <a:cs typeface="+mj-lt"/>
              </a:rPr>
              <a:t>Lambda:</a:t>
            </a:r>
            <a:r>
              <a:rPr lang="es-CL" noProof="0" dirty="0">
                <a:ea typeface="+mj-lt"/>
                <a:cs typeface="+mj-lt"/>
              </a:rPr>
              <a:t> Combina procesamiento por lotes para el historial seguro y una capa de velocidad para baja latencia. Su complejidad es alta por mantener dos flujos separados.</a:t>
            </a:r>
            <a:endParaRPr lang="es-CL" noProof="0" dirty="0"/>
          </a:p>
          <a:p>
            <a:pPr algn="just">
              <a:buClr>
                <a:srgbClr val="EF53A5"/>
              </a:buClr>
            </a:pPr>
            <a:r>
              <a:rPr lang="es-CL" b="1" noProof="0" dirty="0">
                <a:ea typeface="+mj-lt"/>
                <a:cs typeface="+mj-lt"/>
              </a:rPr>
              <a:t>Kappa:</a:t>
            </a:r>
            <a:r>
              <a:rPr lang="es-CL" noProof="0" dirty="0">
                <a:ea typeface="+mj-lt"/>
                <a:cs typeface="+mj-lt"/>
              </a:rPr>
              <a:t> Orientada a procesar eventos continuos con baja latencia. Simplifica código, pero exige infraestructura robusta para reprocesar el historial. </a:t>
            </a:r>
            <a:endParaRPr lang="es-CL" noProof="0" dirty="0"/>
          </a:p>
          <a:p>
            <a:pPr algn="just">
              <a:buClr>
                <a:srgbClr val="EF53A5"/>
              </a:buClr>
            </a:pPr>
            <a:r>
              <a:rPr lang="es-CL" b="1" noProof="0" dirty="0" err="1">
                <a:ea typeface="+mj-lt"/>
                <a:cs typeface="+mj-lt"/>
              </a:rPr>
              <a:t>Lakehouse</a:t>
            </a:r>
            <a:r>
              <a:rPr lang="es-CL" b="1" noProof="0" dirty="0">
                <a:ea typeface="+mj-lt"/>
                <a:cs typeface="+mj-lt"/>
              </a:rPr>
              <a:t>:</a:t>
            </a:r>
            <a:r>
              <a:rPr lang="es-CL" noProof="0" dirty="0">
                <a:ea typeface="+mj-lt"/>
                <a:cs typeface="+mj-lt"/>
              </a:rPr>
              <a:t> Enfocada en ciencia de datos y BI masivo. Incorpora características de Data </a:t>
            </a:r>
            <a:r>
              <a:rPr lang="es-CL" noProof="0" dirty="0" err="1">
                <a:ea typeface="+mj-lt"/>
                <a:cs typeface="+mj-lt"/>
              </a:rPr>
              <a:t>Warehouse</a:t>
            </a:r>
            <a:r>
              <a:rPr lang="es-CL" noProof="0" dirty="0">
                <a:ea typeface="+mj-lt"/>
                <a:cs typeface="+mj-lt"/>
              </a:rPr>
              <a:t> para el gobierno de datos.</a:t>
            </a:r>
            <a:endParaRPr lang="es-CL" noProof="0" dirty="0"/>
          </a:p>
          <a:p>
            <a:pPr>
              <a:buClr>
                <a:srgbClr val="EF53A5"/>
              </a:buClr>
            </a:pPr>
            <a:endParaRPr lang="es-CL" noProof="0" dirty="0"/>
          </a:p>
        </p:txBody>
      </p:sp>
      <p:pic>
        <p:nvPicPr>
          <p:cNvPr id="5" name="Picture 4" descr="Recursos de comunicación - Universidad Autónoma de Chile">
            <a:extLst>
              <a:ext uri="{FF2B5EF4-FFF2-40B4-BE49-F238E27FC236}">
                <a16:creationId xmlns:a16="http://schemas.microsoft.com/office/drawing/2014/main" id="{6E494489-3FBD-8578-0D1C-7009AA44BCA8}"/>
              </a:ext>
            </a:extLst>
          </p:cNvPr>
          <p:cNvPicPr>
            <a:picLocks noChangeAspect="1"/>
          </p:cNvPicPr>
          <p:nvPr/>
        </p:nvPicPr>
        <p:blipFill>
          <a:blip r:embed="rId2"/>
          <a:stretch>
            <a:fillRect/>
          </a:stretch>
        </p:blipFill>
        <p:spPr>
          <a:xfrm>
            <a:off x="10088730" y="-3509"/>
            <a:ext cx="2101015" cy="1139993"/>
          </a:xfrm>
          <a:prstGeom prst="rect">
            <a:avLst/>
          </a:prstGeom>
        </p:spPr>
      </p:pic>
    </p:spTree>
    <p:extLst>
      <p:ext uri="{BB962C8B-B14F-4D97-AF65-F5344CB8AC3E}">
        <p14:creationId xmlns:p14="http://schemas.microsoft.com/office/powerpoint/2010/main" val="285539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A8F7D-0A7C-82D4-9240-EA9B8ACCCB28}"/>
              </a:ext>
            </a:extLst>
          </p:cNvPr>
          <p:cNvSpPr>
            <a:spLocks noGrp="1"/>
          </p:cNvSpPr>
          <p:nvPr>
            <p:ph type="title"/>
          </p:nvPr>
        </p:nvSpPr>
        <p:spPr/>
        <p:txBody>
          <a:bodyPr/>
          <a:lstStyle/>
          <a:p>
            <a:r>
              <a:rPr lang="es-CL" noProof="0" dirty="0">
                <a:ea typeface="+mj-lt"/>
                <a:cs typeface="+mj-lt"/>
              </a:rPr>
              <a:t>Arquitectura Lambda: Diseño y Justificación</a:t>
            </a:r>
            <a:endParaRPr lang="es-CL" noProof="0" dirty="0"/>
          </a:p>
        </p:txBody>
      </p:sp>
      <p:sp>
        <p:nvSpPr>
          <p:cNvPr id="3" name="Content Placeholder 2">
            <a:extLst>
              <a:ext uri="{FF2B5EF4-FFF2-40B4-BE49-F238E27FC236}">
                <a16:creationId xmlns:a16="http://schemas.microsoft.com/office/drawing/2014/main" id="{301B3E20-A955-4166-F92F-A2D33CD82F89}"/>
              </a:ext>
            </a:extLst>
          </p:cNvPr>
          <p:cNvSpPr>
            <a:spLocks noGrp="1"/>
          </p:cNvSpPr>
          <p:nvPr>
            <p:ph idx="1"/>
          </p:nvPr>
        </p:nvSpPr>
        <p:spPr/>
        <p:txBody>
          <a:bodyPr vert="horz" lIns="91440" tIns="45720" rIns="91440" bIns="45720" rtlCol="0" anchor="t">
            <a:normAutofit/>
          </a:bodyPr>
          <a:lstStyle/>
          <a:p>
            <a:pPr algn="just"/>
            <a:r>
              <a:rPr lang="es-CL" b="1" noProof="0" dirty="0">
                <a:ea typeface="+mj-lt"/>
                <a:cs typeface="+mj-lt"/>
              </a:rPr>
              <a:t>Justificación:</a:t>
            </a:r>
            <a:r>
              <a:rPr lang="es-CL" noProof="0" dirty="0">
                <a:ea typeface="+mj-lt"/>
                <a:cs typeface="+mj-lt"/>
              </a:rPr>
              <a:t> Permite responder a la misma interrogante sobre calidad del aire manejando dos ritmos distintos simultáneamente.</a:t>
            </a:r>
            <a:endParaRPr lang="es-CL" noProof="0" dirty="0"/>
          </a:p>
          <a:p>
            <a:pPr algn="just">
              <a:buClr>
                <a:srgbClr val="EF53A5"/>
              </a:buClr>
            </a:pPr>
            <a:r>
              <a:rPr lang="es-CL" b="1" noProof="0" dirty="0">
                <a:ea typeface="+mj-lt"/>
                <a:cs typeface="+mj-lt"/>
              </a:rPr>
              <a:t>Flujo: </a:t>
            </a:r>
            <a:r>
              <a:rPr lang="es-CL" noProof="0" dirty="0">
                <a:ea typeface="+mj-lt"/>
                <a:cs typeface="+mj-lt"/>
              </a:rPr>
              <a:t>El dato ingresa una única vez, se publica en Kafka y desde allí se bifurca hacia las dos capas.</a:t>
            </a:r>
            <a:endParaRPr lang="es-CL" noProof="0" dirty="0"/>
          </a:p>
          <a:p>
            <a:pPr algn="just">
              <a:buClr>
                <a:srgbClr val="EF53A5"/>
              </a:buClr>
            </a:pPr>
            <a:r>
              <a:rPr lang="es-CL" b="1" noProof="0" dirty="0">
                <a:ea typeface="+mj-lt"/>
                <a:cs typeface="+mj-lt"/>
              </a:rPr>
              <a:t>Mecanismo de Autovalidación:</a:t>
            </a:r>
            <a:r>
              <a:rPr lang="es-CL" noProof="0" dirty="0">
                <a:ea typeface="+mj-lt"/>
                <a:cs typeface="+mj-lt"/>
              </a:rPr>
              <a:t> Las dos ramas (Batch y Speed) convergen en la capa de servicio, donde sus resultados deben coincidir matemáticamente para probar la integridad del sistema.</a:t>
            </a:r>
            <a:endParaRPr lang="es-CL" noProof="0" dirty="0"/>
          </a:p>
          <a:p>
            <a:pPr>
              <a:buClr>
                <a:srgbClr val="EF53A5"/>
              </a:buClr>
            </a:pPr>
            <a:endParaRPr lang="es-CL" noProof="0" dirty="0"/>
          </a:p>
        </p:txBody>
      </p:sp>
      <p:pic>
        <p:nvPicPr>
          <p:cNvPr id="5" name="Picture 4" descr="Recursos de comunicación - Universidad Autónoma de Chile">
            <a:extLst>
              <a:ext uri="{FF2B5EF4-FFF2-40B4-BE49-F238E27FC236}">
                <a16:creationId xmlns:a16="http://schemas.microsoft.com/office/drawing/2014/main" id="{8E24441B-2B5A-BC8D-63CF-660D7558B198}"/>
              </a:ext>
            </a:extLst>
          </p:cNvPr>
          <p:cNvPicPr>
            <a:picLocks noChangeAspect="1"/>
          </p:cNvPicPr>
          <p:nvPr/>
        </p:nvPicPr>
        <p:blipFill>
          <a:blip r:embed="rId2"/>
          <a:stretch>
            <a:fillRect/>
          </a:stretch>
        </p:blipFill>
        <p:spPr>
          <a:xfrm>
            <a:off x="10088730" y="-3509"/>
            <a:ext cx="2101015" cy="1139993"/>
          </a:xfrm>
          <a:prstGeom prst="rect">
            <a:avLst/>
          </a:prstGeom>
        </p:spPr>
      </p:pic>
    </p:spTree>
    <p:extLst>
      <p:ext uri="{BB962C8B-B14F-4D97-AF65-F5344CB8AC3E}">
        <p14:creationId xmlns:p14="http://schemas.microsoft.com/office/powerpoint/2010/main" val="2795046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DAC7AC-DE37-2AF7-F1DB-75DF961A6B30}"/>
              </a:ext>
            </a:extLst>
          </p:cNvPr>
          <p:cNvSpPr>
            <a:spLocks noGrp="1"/>
          </p:cNvSpPr>
          <p:nvPr>
            <p:ph type="title"/>
          </p:nvPr>
        </p:nvSpPr>
        <p:spPr>
          <a:xfrm>
            <a:off x="347353" y="229410"/>
            <a:ext cx="9404723" cy="1400530"/>
          </a:xfrm>
        </p:spPr>
        <p:txBody>
          <a:bodyPr/>
          <a:lstStyle/>
          <a:p>
            <a:r>
              <a:rPr lang="es-CL" dirty="0"/>
              <a:t>El dato entra y se bifurca en el </a:t>
            </a:r>
            <a:r>
              <a:rPr lang="es-CL" dirty="0" err="1"/>
              <a:t>topic</a:t>
            </a:r>
            <a:r>
              <a:rPr lang="es-CL" dirty="0"/>
              <a:t> </a:t>
            </a:r>
          </a:p>
        </p:txBody>
      </p:sp>
      <p:sp>
        <p:nvSpPr>
          <p:cNvPr id="5" name="Rectangle 4">
            <a:extLst>
              <a:ext uri="{FF2B5EF4-FFF2-40B4-BE49-F238E27FC236}">
                <a16:creationId xmlns:a16="http://schemas.microsoft.com/office/drawing/2014/main" id="{92685389-571D-B080-C8CF-ADC1DFA21D68}"/>
              </a:ext>
            </a:extLst>
          </p:cNvPr>
          <p:cNvSpPr/>
          <p:nvPr/>
        </p:nvSpPr>
        <p:spPr>
          <a:xfrm>
            <a:off x="510821" y="3145536"/>
            <a:ext cx="2286000" cy="822960"/>
          </a:xfrm>
          <a:prstGeom prst="rect">
            <a:avLst/>
          </a:prstGeom>
          <a:solidFill>
            <a:srgbClr val="F8F9FA"/>
          </a:solidFill>
          <a:ln w="19050">
            <a:solidFill>
              <a:srgbClr val="2D5F8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CL" sz="1400" b="1" noProof="0" dirty="0">
                <a:solidFill>
                  <a:srgbClr val="1B2A4A"/>
                </a:solidFill>
                <a:latin typeface="Calibri"/>
              </a:rPr>
              <a:t>Imagen de Datos </a:t>
            </a:r>
          </a:p>
        </p:txBody>
      </p:sp>
      <p:sp>
        <p:nvSpPr>
          <p:cNvPr id="7" name="Rectangle 5">
            <a:extLst>
              <a:ext uri="{FF2B5EF4-FFF2-40B4-BE49-F238E27FC236}">
                <a16:creationId xmlns:a16="http://schemas.microsoft.com/office/drawing/2014/main" id="{3CC33317-D676-7CD7-F1FA-B4C803900A39}"/>
              </a:ext>
            </a:extLst>
          </p:cNvPr>
          <p:cNvSpPr/>
          <p:nvPr/>
        </p:nvSpPr>
        <p:spPr>
          <a:xfrm>
            <a:off x="3267816" y="3099816"/>
            <a:ext cx="2468880" cy="914400"/>
          </a:xfrm>
          <a:prstGeom prst="rect">
            <a:avLst/>
          </a:prstGeom>
          <a:noFill/>
          <a:ln w="22225">
            <a:solidFill>
              <a:srgbClr val="E8913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CL" sz="1400" b="1" noProof="0" dirty="0">
                <a:solidFill>
                  <a:srgbClr val="E8913A"/>
                </a:solidFill>
                <a:latin typeface="Calibri"/>
              </a:rPr>
              <a:t>Topic lab03.eventos</a:t>
            </a:r>
            <a:br>
              <a:rPr lang="es-CL" noProof="0" dirty="0"/>
            </a:br>
            <a:r>
              <a:rPr lang="es-CL" sz="1400" b="1" noProof="0" dirty="0">
                <a:solidFill>
                  <a:srgbClr val="E8913A"/>
                </a:solidFill>
                <a:latin typeface="Calibri"/>
              </a:rPr>
              <a:t>672 eventos, clave = ciudad</a:t>
            </a:r>
          </a:p>
        </p:txBody>
      </p:sp>
      <p:sp>
        <p:nvSpPr>
          <p:cNvPr id="9" name="Rectangle 6">
            <a:extLst>
              <a:ext uri="{FF2B5EF4-FFF2-40B4-BE49-F238E27FC236}">
                <a16:creationId xmlns:a16="http://schemas.microsoft.com/office/drawing/2014/main" id="{D31F39BF-C856-644D-5642-879016A6843F}"/>
              </a:ext>
            </a:extLst>
          </p:cNvPr>
          <p:cNvSpPr/>
          <p:nvPr/>
        </p:nvSpPr>
        <p:spPr>
          <a:xfrm>
            <a:off x="6509459" y="2158887"/>
            <a:ext cx="2834640" cy="822960"/>
          </a:xfrm>
          <a:prstGeom prst="rect">
            <a:avLst/>
          </a:prstGeom>
          <a:solidFill>
            <a:srgbClr val="F8F9FA"/>
          </a:solidFill>
          <a:ln w="19050">
            <a:solidFill>
              <a:srgbClr val="2D5F8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CL" noProof="0" dirty="0">
                <a:solidFill>
                  <a:schemeClr val="bg1"/>
                </a:solidFill>
              </a:rPr>
              <a:t>Capa de velocidad</a:t>
            </a:r>
            <a:br>
              <a:rPr lang="es-CL" noProof="0" dirty="0">
                <a:solidFill>
                  <a:schemeClr val="bg1"/>
                </a:solidFill>
              </a:rPr>
            </a:br>
            <a:r>
              <a:rPr lang="es-CL" noProof="0" dirty="0">
                <a:solidFill>
                  <a:schemeClr val="bg1"/>
                </a:solidFill>
              </a:rPr>
              <a:t>Spark Streaming, 2 h</a:t>
            </a:r>
            <a:br>
              <a:rPr lang="es-CL" noProof="0" dirty="0">
                <a:solidFill>
                  <a:schemeClr val="bg1"/>
                </a:solidFill>
              </a:rPr>
            </a:br>
            <a:r>
              <a:rPr lang="es-CL" noProof="0" dirty="0">
                <a:solidFill>
                  <a:schemeClr val="bg1"/>
                </a:solidFill>
              </a:rPr>
              <a:t>6 episodios</a:t>
            </a:r>
          </a:p>
        </p:txBody>
      </p:sp>
      <p:sp>
        <p:nvSpPr>
          <p:cNvPr id="11" name="Rectangle 7">
            <a:extLst>
              <a:ext uri="{FF2B5EF4-FFF2-40B4-BE49-F238E27FC236}">
                <a16:creationId xmlns:a16="http://schemas.microsoft.com/office/drawing/2014/main" id="{89E4825B-2932-D05C-7FAD-BF29D835BD3E}"/>
              </a:ext>
            </a:extLst>
          </p:cNvPr>
          <p:cNvSpPr/>
          <p:nvPr/>
        </p:nvSpPr>
        <p:spPr>
          <a:xfrm>
            <a:off x="6525238" y="4379974"/>
            <a:ext cx="2834640" cy="822960"/>
          </a:xfrm>
          <a:prstGeom prst="rect">
            <a:avLst/>
          </a:prstGeom>
          <a:solidFill>
            <a:srgbClr val="F8F9FA"/>
          </a:solidFill>
          <a:ln w="19050">
            <a:solidFill>
              <a:srgbClr val="2D5F8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CL" noProof="0" dirty="0">
                <a:solidFill>
                  <a:schemeClr val="bg1"/>
                </a:solidFill>
              </a:rPr>
              <a:t>Capa de lotes</a:t>
            </a:r>
            <a:br>
              <a:rPr lang="es-CL" noProof="0" dirty="0">
                <a:solidFill>
                  <a:schemeClr val="bg1"/>
                </a:solidFill>
              </a:rPr>
            </a:br>
            <a:r>
              <a:rPr lang="es-CL" noProof="0" dirty="0">
                <a:solidFill>
                  <a:schemeClr val="bg1"/>
                </a:solidFill>
              </a:rPr>
              <a:t>Spark </a:t>
            </a:r>
            <a:r>
              <a:rPr lang="es-CL" noProof="0" dirty="0" err="1">
                <a:solidFill>
                  <a:schemeClr val="bg1"/>
                </a:solidFill>
              </a:rPr>
              <a:t>batch</a:t>
            </a:r>
            <a:br>
              <a:rPr lang="es-CL" noProof="0" dirty="0">
                <a:solidFill>
                  <a:schemeClr val="bg1"/>
                </a:solidFill>
              </a:rPr>
            </a:br>
            <a:r>
              <a:rPr lang="es-CL" noProof="0" dirty="0">
                <a:solidFill>
                  <a:schemeClr val="bg1"/>
                </a:solidFill>
              </a:rPr>
              <a:t>28 filas diarias</a:t>
            </a:r>
          </a:p>
        </p:txBody>
      </p:sp>
      <p:sp>
        <p:nvSpPr>
          <p:cNvPr id="13" name="Right Arrow 9">
            <a:extLst>
              <a:ext uri="{FF2B5EF4-FFF2-40B4-BE49-F238E27FC236}">
                <a16:creationId xmlns:a16="http://schemas.microsoft.com/office/drawing/2014/main" id="{394C4561-6BFB-749E-FBE4-402C1AD5A825}"/>
              </a:ext>
            </a:extLst>
          </p:cNvPr>
          <p:cNvSpPr/>
          <p:nvPr/>
        </p:nvSpPr>
        <p:spPr>
          <a:xfrm>
            <a:off x="2839656" y="3456432"/>
            <a:ext cx="420624" cy="201168"/>
          </a:xfrm>
          <a:prstGeom prst="rightArrow">
            <a:avLst/>
          </a:prstGeom>
          <a:solidFill>
            <a:srgbClr val="2D5F8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noProof="0" dirty="0"/>
          </a:p>
        </p:txBody>
      </p:sp>
      <p:sp>
        <p:nvSpPr>
          <p:cNvPr id="15" name="Right Arrow 10">
            <a:extLst>
              <a:ext uri="{FF2B5EF4-FFF2-40B4-BE49-F238E27FC236}">
                <a16:creationId xmlns:a16="http://schemas.microsoft.com/office/drawing/2014/main" id="{415114A7-57F9-393E-8E82-C63A09C2DD9B}"/>
              </a:ext>
            </a:extLst>
          </p:cNvPr>
          <p:cNvSpPr/>
          <p:nvPr/>
        </p:nvSpPr>
        <p:spPr>
          <a:xfrm rot="18180000">
            <a:off x="5541389" y="2953512"/>
            <a:ext cx="1188720" cy="201168"/>
          </a:xfrm>
          <a:prstGeom prst="rightArrow">
            <a:avLst/>
          </a:prstGeom>
          <a:solidFill>
            <a:srgbClr val="2D5F8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noProof="0" dirty="0"/>
          </a:p>
        </p:txBody>
      </p:sp>
      <p:sp>
        <p:nvSpPr>
          <p:cNvPr id="17" name="Right Arrow 11">
            <a:extLst>
              <a:ext uri="{FF2B5EF4-FFF2-40B4-BE49-F238E27FC236}">
                <a16:creationId xmlns:a16="http://schemas.microsoft.com/office/drawing/2014/main" id="{A183DAA2-598D-F43E-0606-383879F8616E}"/>
              </a:ext>
            </a:extLst>
          </p:cNvPr>
          <p:cNvSpPr/>
          <p:nvPr/>
        </p:nvSpPr>
        <p:spPr>
          <a:xfrm rot="3660000">
            <a:off x="5476062" y="4050791"/>
            <a:ext cx="1353312" cy="201168"/>
          </a:xfrm>
          <a:prstGeom prst="rightArrow">
            <a:avLst/>
          </a:prstGeom>
          <a:solidFill>
            <a:srgbClr val="2D5F8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noProof="0" dirty="0"/>
          </a:p>
        </p:txBody>
      </p:sp>
      <p:sp>
        <p:nvSpPr>
          <p:cNvPr id="19" name="Right Arrow 12">
            <a:extLst>
              <a:ext uri="{FF2B5EF4-FFF2-40B4-BE49-F238E27FC236}">
                <a16:creationId xmlns:a16="http://schemas.microsoft.com/office/drawing/2014/main" id="{2C29F0DD-F713-2EDE-80E5-0A176C14E961}"/>
              </a:ext>
            </a:extLst>
          </p:cNvPr>
          <p:cNvSpPr/>
          <p:nvPr/>
        </p:nvSpPr>
        <p:spPr>
          <a:xfrm rot="3540000">
            <a:off x="9103223" y="2999230"/>
            <a:ext cx="1170432" cy="201168"/>
          </a:xfrm>
          <a:prstGeom prst="rightArrow">
            <a:avLst/>
          </a:prstGeom>
          <a:solidFill>
            <a:srgbClr val="E8913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noProof="0" dirty="0"/>
          </a:p>
        </p:txBody>
      </p:sp>
      <p:sp>
        <p:nvSpPr>
          <p:cNvPr id="21" name="Right Arrow 13">
            <a:extLst>
              <a:ext uri="{FF2B5EF4-FFF2-40B4-BE49-F238E27FC236}">
                <a16:creationId xmlns:a16="http://schemas.microsoft.com/office/drawing/2014/main" id="{F6BB9D76-EA75-715E-548D-191F00B8D741}"/>
              </a:ext>
            </a:extLst>
          </p:cNvPr>
          <p:cNvSpPr/>
          <p:nvPr/>
        </p:nvSpPr>
        <p:spPr>
          <a:xfrm rot="17820000">
            <a:off x="9046379" y="4063665"/>
            <a:ext cx="1325880" cy="201168"/>
          </a:xfrm>
          <a:prstGeom prst="rightArrow">
            <a:avLst/>
          </a:prstGeom>
          <a:solidFill>
            <a:srgbClr val="E8913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noProof="0" dirty="0"/>
          </a:p>
        </p:txBody>
      </p:sp>
      <p:sp>
        <p:nvSpPr>
          <p:cNvPr id="23" name="Rectangle 8">
            <a:extLst>
              <a:ext uri="{FF2B5EF4-FFF2-40B4-BE49-F238E27FC236}">
                <a16:creationId xmlns:a16="http://schemas.microsoft.com/office/drawing/2014/main" id="{553E89BD-3092-DC76-E53E-41E4E3DEEA61}"/>
              </a:ext>
            </a:extLst>
          </p:cNvPr>
          <p:cNvSpPr/>
          <p:nvPr/>
        </p:nvSpPr>
        <p:spPr>
          <a:xfrm>
            <a:off x="10076065" y="3108956"/>
            <a:ext cx="2103120" cy="1005840"/>
          </a:xfrm>
          <a:prstGeom prst="rect">
            <a:avLst/>
          </a:prstGeom>
          <a:solidFill>
            <a:srgbClr val="F8F9FA"/>
          </a:solidFill>
          <a:ln w="19050">
            <a:solidFill>
              <a:srgbClr val="1B2A4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CL" sz="1400" b="1" noProof="0" dirty="0">
                <a:solidFill>
                  <a:srgbClr val="1B2A4A"/>
                </a:solidFill>
                <a:latin typeface="Calibri"/>
              </a:rPr>
              <a:t>Capa de servicio</a:t>
            </a:r>
            <a:br>
              <a:rPr lang="es-CL" noProof="0" dirty="0"/>
            </a:br>
            <a:r>
              <a:rPr lang="es-CL" sz="1400" b="1" noProof="0" dirty="0">
                <a:solidFill>
                  <a:srgbClr val="1B2A4A"/>
                </a:solidFill>
                <a:latin typeface="Calibri"/>
              </a:rPr>
              <a:t>SQLite </a:t>
            </a:r>
            <a:r>
              <a:rPr lang="es-CL" sz="1400" b="1" noProof="0" dirty="0" err="1">
                <a:solidFill>
                  <a:srgbClr val="1B2A4A"/>
                </a:solidFill>
                <a:latin typeface="Calibri"/>
              </a:rPr>
              <a:t>aire.db</a:t>
            </a:r>
            <a:br>
              <a:rPr lang="es-CL" noProof="0" dirty="0"/>
            </a:br>
            <a:r>
              <a:rPr lang="es-CL" sz="1400" b="1" noProof="0" dirty="0">
                <a:solidFill>
                  <a:srgbClr val="1B2A4A"/>
                </a:solidFill>
                <a:latin typeface="Calibri"/>
              </a:rPr>
              <a:t>Cruce 111 = 111</a:t>
            </a:r>
          </a:p>
        </p:txBody>
      </p:sp>
    </p:spTree>
    <p:extLst>
      <p:ext uri="{BB962C8B-B14F-4D97-AF65-F5344CB8AC3E}">
        <p14:creationId xmlns:p14="http://schemas.microsoft.com/office/powerpoint/2010/main" val="1884531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A721-AB13-D236-04C5-B7A9C3CECA88}"/>
              </a:ext>
            </a:extLst>
          </p:cNvPr>
          <p:cNvSpPr>
            <a:spLocks noGrp="1"/>
          </p:cNvSpPr>
          <p:nvPr>
            <p:ph type="title"/>
          </p:nvPr>
        </p:nvSpPr>
        <p:spPr/>
        <p:txBody>
          <a:bodyPr/>
          <a:lstStyle/>
          <a:p>
            <a:r>
              <a:rPr lang="es-CL" noProof="0" dirty="0">
                <a:ea typeface="+mj-lt"/>
                <a:cs typeface="+mj-lt"/>
              </a:rPr>
              <a:t>Entorno y Materiales</a:t>
            </a:r>
            <a:endParaRPr lang="es-CL" noProof="0" dirty="0"/>
          </a:p>
        </p:txBody>
      </p:sp>
      <p:sp>
        <p:nvSpPr>
          <p:cNvPr id="3" name="Content Placeholder 2">
            <a:extLst>
              <a:ext uri="{FF2B5EF4-FFF2-40B4-BE49-F238E27FC236}">
                <a16:creationId xmlns:a16="http://schemas.microsoft.com/office/drawing/2014/main" id="{21585DB2-394D-F349-A821-A175328B1A85}"/>
              </a:ext>
            </a:extLst>
          </p:cNvPr>
          <p:cNvSpPr>
            <a:spLocks noGrp="1"/>
          </p:cNvSpPr>
          <p:nvPr>
            <p:ph idx="1"/>
          </p:nvPr>
        </p:nvSpPr>
        <p:spPr>
          <a:xfrm>
            <a:off x="1210390" y="1530939"/>
            <a:ext cx="7055785" cy="3108960"/>
          </a:xfrm>
          <a:ln>
            <a:solidFill/>
          </a:ln>
        </p:spPr>
        <p:txBody>
          <a:bodyPr vert="horz" lIns="91440" tIns="45720" rIns="91440" bIns="45720" rtlCol="0" anchor="t">
            <a:normAutofit fontScale="92500" lnSpcReduction="20000"/>
          </a:bodyPr>
          <a:lstStyle/>
          <a:p>
            <a:pPr algn="just"/>
            <a:r>
              <a:rPr lang="es-CL" b="1" noProof="0" dirty="0">
                <a:ea typeface="+mj-lt"/>
                <a:cs typeface="+mj-lt"/>
              </a:rPr>
              <a:t>Python (3.12.10):</a:t>
            </a:r>
            <a:r>
              <a:rPr lang="es-CL" noProof="0" dirty="0">
                <a:ea typeface="+mj-lt"/>
                <a:cs typeface="+mj-lt"/>
              </a:rPr>
              <a:t> Entorno virtual propio.</a:t>
            </a:r>
            <a:endParaRPr lang="es-CL" noProof="0" dirty="0"/>
          </a:p>
          <a:p>
            <a:pPr algn="just">
              <a:buClr>
                <a:srgbClr val="EF53A5"/>
              </a:buClr>
            </a:pPr>
            <a:r>
              <a:rPr lang="es-CL" b="1" noProof="0" dirty="0" err="1">
                <a:ea typeface="+mj-lt"/>
                <a:cs typeface="+mj-lt"/>
              </a:rPr>
              <a:t>Temurin</a:t>
            </a:r>
            <a:r>
              <a:rPr lang="es-CL" b="1" noProof="0" dirty="0">
                <a:ea typeface="+mj-lt"/>
                <a:cs typeface="+mj-lt"/>
              </a:rPr>
              <a:t> JDK (17.0.20.1):</a:t>
            </a:r>
            <a:r>
              <a:rPr lang="es-CL" noProof="0" dirty="0">
                <a:ea typeface="+mj-lt"/>
                <a:cs typeface="+mj-lt"/>
              </a:rPr>
              <a:t> Versión exacta requerida por Spark 3.5.</a:t>
            </a:r>
            <a:endParaRPr lang="es-CL" noProof="0" dirty="0"/>
          </a:p>
          <a:p>
            <a:pPr algn="just">
              <a:buClr>
                <a:srgbClr val="EF53A5"/>
              </a:buClr>
            </a:pPr>
            <a:r>
              <a:rPr lang="es-CL" b="1" noProof="0" dirty="0" err="1">
                <a:ea typeface="+mj-lt"/>
                <a:cs typeface="+mj-lt"/>
              </a:rPr>
              <a:t>PySpark</a:t>
            </a:r>
            <a:r>
              <a:rPr lang="es-CL" b="1" noProof="0" dirty="0">
                <a:ea typeface="+mj-lt"/>
                <a:cs typeface="+mj-lt"/>
              </a:rPr>
              <a:t> (3.5.9) y pandas (2.3.3):</a:t>
            </a:r>
            <a:r>
              <a:rPr lang="es-CL" noProof="0" dirty="0">
                <a:ea typeface="+mj-lt"/>
                <a:cs typeface="+mj-lt"/>
              </a:rPr>
              <a:t> Para el procesamiento masivo de datos.</a:t>
            </a:r>
            <a:endParaRPr lang="es-CL" noProof="0" dirty="0"/>
          </a:p>
          <a:p>
            <a:pPr algn="just">
              <a:buClr>
                <a:srgbClr val="EF53A5"/>
              </a:buClr>
            </a:pPr>
            <a:r>
              <a:rPr lang="es-CL" b="1" noProof="0" dirty="0">
                <a:ea typeface="+mj-lt"/>
                <a:cs typeface="+mj-lt"/>
              </a:rPr>
              <a:t>Apache Kafka (4.1.2):</a:t>
            </a:r>
            <a:r>
              <a:rPr lang="es-CL" noProof="0" dirty="0">
                <a:ea typeface="+mj-lt"/>
                <a:cs typeface="+mj-lt"/>
              </a:rPr>
              <a:t> Broker en modo </a:t>
            </a:r>
            <a:r>
              <a:rPr lang="es-CL" noProof="0" dirty="0" err="1">
                <a:ea typeface="+mj-lt"/>
                <a:cs typeface="+mj-lt"/>
              </a:rPr>
              <a:t>KRaft</a:t>
            </a:r>
            <a:r>
              <a:rPr lang="es-CL" noProof="0" dirty="0">
                <a:ea typeface="+mj-lt"/>
                <a:cs typeface="+mj-lt"/>
              </a:rPr>
              <a:t> (sin </a:t>
            </a:r>
            <a:r>
              <a:rPr lang="es-CL" noProof="0" dirty="0" err="1">
                <a:ea typeface="+mj-lt"/>
                <a:cs typeface="+mj-lt"/>
              </a:rPr>
              <a:t>ZooKeeper</a:t>
            </a:r>
            <a:r>
              <a:rPr lang="es-CL" noProof="0" dirty="0">
                <a:ea typeface="+mj-lt"/>
                <a:cs typeface="+mj-lt"/>
              </a:rPr>
              <a:t>).</a:t>
            </a:r>
            <a:endParaRPr lang="es-CL" noProof="0" dirty="0"/>
          </a:p>
          <a:p>
            <a:pPr algn="just">
              <a:buClr>
                <a:srgbClr val="EF53A5"/>
              </a:buClr>
            </a:pPr>
            <a:r>
              <a:rPr lang="es-CL" b="1" noProof="0" dirty="0" err="1">
                <a:ea typeface="+mj-lt"/>
                <a:cs typeface="+mj-lt"/>
              </a:rPr>
              <a:t>winutils</a:t>
            </a:r>
            <a:r>
              <a:rPr lang="es-CL" b="1" noProof="0" dirty="0">
                <a:ea typeface="+mj-lt"/>
                <a:cs typeface="+mj-lt"/>
              </a:rPr>
              <a:t> (3.3.5):</a:t>
            </a:r>
            <a:r>
              <a:rPr lang="es-CL" noProof="0" dirty="0">
                <a:ea typeface="+mj-lt"/>
                <a:cs typeface="+mj-lt"/>
              </a:rPr>
              <a:t> Binario necesario para operaciones de escritura en Windows.</a:t>
            </a:r>
            <a:endParaRPr lang="es-CL" noProof="0" dirty="0"/>
          </a:p>
          <a:p>
            <a:pPr algn="just">
              <a:buClr>
                <a:srgbClr val="EF53A5"/>
              </a:buClr>
            </a:pPr>
            <a:r>
              <a:rPr lang="es-CL" b="1" noProof="0" dirty="0">
                <a:ea typeface="+mj-lt"/>
                <a:cs typeface="+mj-lt"/>
              </a:rPr>
              <a:t>SQLite:</a:t>
            </a:r>
            <a:r>
              <a:rPr lang="es-CL" noProof="0" dirty="0">
                <a:ea typeface="+mj-lt"/>
                <a:cs typeface="+mj-lt"/>
              </a:rPr>
              <a:t> Base de datos nativa para la capa de servicio.</a:t>
            </a:r>
            <a:endParaRPr lang="es-CL" noProof="0" dirty="0"/>
          </a:p>
          <a:p>
            <a:pPr>
              <a:buClr>
                <a:srgbClr val="EF53A5"/>
              </a:buClr>
            </a:pPr>
            <a:endParaRPr lang="es-CL" noProof="0" dirty="0"/>
          </a:p>
        </p:txBody>
      </p:sp>
      <p:pic>
        <p:nvPicPr>
          <p:cNvPr id="5" name="Picture 4" descr="Recursos de comunicación - Universidad Autónoma de Chile">
            <a:extLst>
              <a:ext uri="{FF2B5EF4-FFF2-40B4-BE49-F238E27FC236}">
                <a16:creationId xmlns:a16="http://schemas.microsoft.com/office/drawing/2014/main" id="{6F712F02-BD25-DBDD-FD41-B129AB1E70D6}"/>
              </a:ext>
            </a:extLst>
          </p:cNvPr>
          <p:cNvPicPr>
            <a:picLocks noChangeAspect="1"/>
          </p:cNvPicPr>
          <p:nvPr/>
        </p:nvPicPr>
        <p:blipFill>
          <a:blip r:embed="rId2"/>
          <a:stretch>
            <a:fillRect/>
          </a:stretch>
        </p:blipFill>
        <p:spPr>
          <a:xfrm>
            <a:off x="10088730" y="-3509"/>
            <a:ext cx="2101015" cy="1139993"/>
          </a:xfrm>
          <a:prstGeom prst="rect">
            <a:avLst/>
          </a:prstGeom>
        </p:spPr>
      </p:pic>
      <p:pic>
        <p:nvPicPr>
          <p:cNvPr id="6" name="Picture 5">
            <a:extLst>
              <a:ext uri="{FF2B5EF4-FFF2-40B4-BE49-F238E27FC236}">
                <a16:creationId xmlns:a16="http://schemas.microsoft.com/office/drawing/2014/main" id="{A2DF671E-A15B-1444-E2C5-F9EC2864E0E9}"/>
              </a:ext>
            </a:extLst>
          </p:cNvPr>
          <p:cNvPicPr>
            <a:picLocks noChangeAspect="1"/>
          </p:cNvPicPr>
          <p:nvPr/>
        </p:nvPicPr>
        <p:blipFill>
          <a:blip r:embed="rId3"/>
          <a:stretch>
            <a:fillRect/>
          </a:stretch>
        </p:blipFill>
        <p:spPr>
          <a:xfrm>
            <a:off x="3290895" y="5175504"/>
            <a:ext cx="5610209" cy="647669"/>
          </a:xfrm>
          <a:prstGeom prst="rect">
            <a:avLst/>
          </a:prstGeom>
          <a:ln>
            <a:solidFill/>
          </a:ln>
        </p:spPr>
      </p:pic>
    </p:spTree>
    <p:extLst>
      <p:ext uri="{BB962C8B-B14F-4D97-AF65-F5344CB8AC3E}">
        <p14:creationId xmlns:p14="http://schemas.microsoft.com/office/powerpoint/2010/main" val="2402457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E873B-283C-2CD6-931D-F6D6E34440E4}"/>
              </a:ext>
            </a:extLst>
          </p:cNvPr>
          <p:cNvSpPr>
            <a:spLocks noGrp="1"/>
          </p:cNvSpPr>
          <p:nvPr>
            <p:ph type="title"/>
          </p:nvPr>
        </p:nvSpPr>
        <p:spPr/>
        <p:txBody>
          <a:bodyPr/>
          <a:lstStyle/>
          <a:p>
            <a:r>
              <a:rPr lang="es-CL" noProof="0" dirty="0">
                <a:ea typeface="+mj-lt"/>
                <a:cs typeface="+mj-lt"/>
              </a:rPr>
              <a:t>Ingesta de Datos</a:t>
            </a:r>
            <a:endParaRPr lang="es-CL" noProof="0" dirty="0"/>
          </a:p>
        </p:txBody>
      </p:sp>
      <p:sp>
        <p:nvSpPr>
          <p:cNvPr id="3" name="Content Placeholder 2">
            <a:extLst>
              <a:ext uri="{FF2B5EF4-FFF2-40B4-BE49-F238E27FC236}">
                <a16:creationId xmlns:a16="http://schemas.microsoft.com/office/drawing/2014/main" id="{5A566060-62CE-9684-3E22-DD42D6764D02}"/>
              </a:ext>
            </a:extLst>
          </p:cNvPr>
          <p:cNvSpPr>
            <a:spLocks noGrp="1"/>
          </p:cNvSpPr>
          <p:nvPr>
            <p:ph idx="1"/>
          </p:nvPr>
        </p:nvSpPr>
        <p:spPr>
          <a:xfrm>
            <a:off x="322966" y="1860163"/>
            <a:ext cx="5303520" cy="4023360"/>
          </a:xfrm>
          <a:ln>
            <a:solidFill/>
          </a:ln>
        </p:spPr>
        <p:txBody>
          <a:bodyPr vert="horz" lIns="91440" tIns="45720" rIns="91440" bIns="45720" rtlCol="0" anchor="t">
            <a:normAutofit lnSpcReduction="10000"/>
          </a:bodyPr>
          <a:lstStyle/>
          <a:p>
            <a:r>
              <a:rPr lang="es-CL" b="1" noProof="0" dirty="0">
                <a:ea typeface="+mj-lt"/>
                <a:cs typeface="+mj-lt"/>
              </a:rPr>
              <a:t>Descarga:</a:t>
            </a:r>
            <a:r>
              <a:rPr lang="es-CL" noProof="0" dirty="0">
                <a:ea typeface="+mj-lt"/>
                <a:cs typeface="+mj-lt"/>
              </a:rPr>
              <a:t> Script conectado a la API de Open-</a:t>
            </a:r>
            <a:r>
              <a:rPr lang="es-CL" noProof="0" dirty="0" err="1">
                <a:ea typeface="+mj-lt"/>
                <a:cs typeface="+mj-lt"/>
              </a:rPr>
              <a:t>Meteo</a:t>
            </a:r>
            <a:r>
              <a:rPr lang="es-CL" noProof="0" dirty="0">
                <a:ea typeface="+mj-lt"/>
                <a:cs typeface="+mj-lt"/>
              </a:rPr>
              <a:t> para obtener parámetros de aire resguardados con hash SHA-256.</a:t>
            </a:r>
            <a:endParaRPr lang="es-CL" noProof="0" dirty="0"/>
          </a:p>
          <a:p>
            <a:pPr>
              <a:buClr>
                <a:srgbClr val="EF53A5"/>
              </a:buClr>
            </a:pPr>
            <a:r>
              <a:rPr lang="es-CL" b="1" noProof="0" dirty="0">
                <a:ea typeface="+mj-lt"/>
                <a:cs typeface="+mj-lt"/>
              </a:rPr>
              <a:t>Simulación en Tiempo Real:</a:t>
            </a:r>
            <a:r>
              <a:rPr lang="es-CL" noProof="0" dirty="0">
                <a:ea typeface="+mj-lt"/>
                <a:cs typeface="+mj-lt"/>
              </a:rPr>
              <a:t> El Productor Kafka inyectó un evento cada 0.02 segundos.</a:t>
            </a:r>
            <a:endParaRPr lang="es-CL" noProof="0" dirty="0"/>
          </a:p>
          <a:p>
            <a:pPr>
              <a:buClr>
                <a:srgbClr val="EF53A5"/>
              </a:buClr>
            </a:pPr>
            <a:r>
              <a:rPr lang="es-CL" b="1" noProof="0" dirty="0">
                <a:ea typeface="+mj-lt"/>
                <a:cs typeface="+mj-lt"/>
              </a:rPr>
              <a:t>Resultados de Ingesta:</a:t>
            </a:r>
            <a:endParaRPr lang="es-CL" noProof="0" dirty="0"/>
          </a:p>
          <a:p>
            <a:pPr>
              <a:buClr>
                <a:srgbClr val="EF53A5"/>
              </a:buClr>
            </a:pPr>
            <a:r>
              <a:rPr lang="es-CL" noProof="0" dirty="0">
                <a:ea typeface="+mj-lt"/>
                <a:cs typeface="+mj-lt"/>
              </a:rPr>
              <a:t>Enviados: 672 mensajes (44.34 </a:t>
            </a:r>
            <a:r>
              <a:rPr lang="es-CL" noProof="0" dirty="0" err="1">
                <a:ea typeface="+mj-lt"/>
                <a:cs typeface="+mj-lt"/>
              </a:rPr>
              <a:t>msg</a:t>
            </a:r>
            <a:r>
              <a:rPr lang="es-CL" noProof="0" dirty="0">
                <a:ea typeface="+mj-lt"/>
                <a:cs typeface="+mj-lt"/>
              </a:rPr>
              <a:t>/s).</a:t>
            </a:r>
            <a:endParaRPr lang="es-CL" noProof="0" dirty="0"/>
          </a:p>
          <a:p>
            <a:pPr>
              <a:buClr>
                <a:srgbClr val="EF53A5"/>
              </a:buClr>
            </a:pPr>
            <a:r>
              <a:rPr lang="es-CL" noProof="0" dirty="0">
                <a:ea typeface="+mj-lt"/>
                <a:cs typeface="+mj-lt"/>
              </a:rPr>
              <a:t>Fallidos: 0.</a:t>
            </a:r>
            <a:endParaRPr lang="es-CL" noProof="0" dirty="0"/>
          </a:p>
          <a:p>
            <a:pPr>
              <a:buClr>
                <a:srgbClr val="EF53A5"/>
              </a:buClr>
            </a:pPr>
            <a:r>
              <a:rPr lang="es-CL" noProof="0" dirty="0">
                <a:ea typeface="+mj-lt"/>
                <a:cs typeface="+mj-lt"/>
              </a:rPr>
              <a:t>Alertas sobre umbral: 111.</a:t>
            </a:r>
            <a:endParaRPr lang="es-CL" noProof="0" dirty="0"/>
          </a:p>
          <a:p>
            <a:pPr>
              <a:buClr>
                <a:srgbClr val="EF53A5"/>
              </a:buClr>
            </a:pPr>
            <a:endParaRPr lang="es-CL" noProof="0" dirty="0"/>
          </a:p>
        </p:txBody>
      </p:sp>
      <p:pic>
        <p:nvPicPr>
          <p:cNvPr id="5" name="Picture 4" descr="Recursos de comunicación - Universidad Autónoma de Chile">
            <a:extLst>
              <a:ext uri="{FF2B5EF4-FFF2-40B4-BE49-F238E27FC236}">
                <a16:creationId xmlns:a16="http://schemas.microsoft.com/office/drawing/2014/main" id="{F7235FD7-CF98-E156-5427-04C7D02B4FEE}"/>
              </a:ext>
            </a:extLst>
          </p:cNvPr>
          <p:cNvPicPr>
            <a:picLocks noChangeAspect="1"/>
          </p:cNvPicPr>
          <p:nvPr/>
        </p:nvPicPr>
        <p:blipFill>
          <a:blip r:embed="rId2"/>
          <a:stretch>
            <a:fillRect/>
          </a:stretch>
        </p:blipFill>
        <p:spPr>
          <a:xfrm>
            <a:off x="10088730" y="-3509"/>
            <a:ext cx="2101015" cy="1139993"/>
          </a:xfrm>
          <a:prstGeom prst="rect">
            <a:avLst/>
          </a:prstGeom>
        </p:spPr>
      </p:pic>
      <p:pic>
        <p:nvPicPr>
          <p:cNvPr id="4" name="Picture 3">
            <a:extLst>
              <a:ext uri="{FF2B5EF4-FFF2-40B4-BE49-F238E27FC236}">
                <a16:creationId xmlns:a16="http://schemas.microsoft.com/office/drawing/2014/main" id="{8113EBD2-2CBF-D9AB-3083-30887FD143E6}"/>
              </a:ext>
            </a:extLst>
          </p:cNvPr>
          <p:cNvPicPr>
            <a:picLocks noChangeAspect="1"/>
          </p:cNvPicPr>
          <p:nvPr/>
        </p:nvPicPr>
        <p:blipFill>
          <a:blip r:embed="rId3"/>
          <a:stretch>
            <a:fillRect/>
          </a:stretch>
        </p:blipFill>
        <p:spPr>
          <a:xfrm>
            <a:off x="5870448" y="2523744"/>
            <a:ext cx="5806440" cy="1627632"/>
          </a:xfrm>
          <a:prstGeom prst="rect">
            <a:avLst/>
          </a:prstGeom>
          <a:ln>
            <a:solidFill/>
          </a:ln>
        </p:spPr>
      </p:pic>
    </p:spTree>
    <p:extLst>
      <p:ext uri="{BB962C8B-B14F-4D97-AF65-F5344CB8AC3E}">
        <p14:creationId xmlns:p14="http://schemas.microsoft.com/office/powerpoint/2010/main" val="956018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009E-7F82-7AB0-4875-144E39638595}"/>
              </a:ext>
            </a:extLst>
          </p:cNvPr>
          <p:cNvSpPr>
            <a:spLocks noGrp="1"/>
          </p:cNvSpPr>
          <p:nvPr>
            <p:ph type="title"/>
          </p:nvPr>
        </p:nvSpPr>
        <p:spPr/>
        <p:txBody>
          <a:bodyPr/>
          <a:lstStyle/>
          <a:p>
            <a:r>
              <a:rPr lang="es-CL" noProof="0" dirty="0">
                <a:ea typeface="+mj-lt"/>
                <a:cs typeface="+mj-lt"/>
              </a:rPr>
              <a:t>Capa de Velocidad</a:t>
            </a:r>
            <a:endParaRPr lang="es-CL" noProof="0" dirty="0"/>
          </a:p>
        </p:txBody>
      </p:sp>
      <p:sp>
        <p:nvSpPr>
          <p:cNvPr id="3" name="Content Placeholder 2">
            <a:extLst>
              <a:ext uri="{FF2B5EF4-FFF2-40B4-BE49-F238E27FC236}">
                <a16:creationId xmlns:a16="http://schemas.microsoft.com/office/drawing/2014/main" id="{ECED5EA8-B31F-F775-C6F0-EAF5CF6C321C}"/>
              </a:ext>
            </a:extLst>
          </p:cNvPr>
          <p:cNvSpPr>
            <a:spLocks noGrp="1"/>
          </p:cNvSpPr>
          <p:nvPr>
            <p:ph idx="1"/>
          </p:nvPr>
        </p:nvSpPr>
        <p:spPr>
          <a:xfrm>
            <a:off x="255012" y="2465115"/>
            <a:ext cx="5522340" cy="4195481"/>
          </a:xfrm>
        </p:spPr>
        <p:txBody>
          <a:bodyPr vert="horz" lIns="91440" tIns="45720" rIns="91440" bIns="45720" rtlCol="0" anchor="t">
            <a:normAutofit/>
          </a:bodyPr>
          <a:lstStyle/>
          <a:p>
            <a:pPr algn="just"/>
            <a:r>
              <a:rPr lang="es-CL" b="1" noProof="0" dirty="0">
                <a:ea typeface="+mj-lt"/>
                <a:cs typeface="+mj-lt"/>
              </a:rPr>
              <a:t>Procesamiento:</a:t>
            </a:r>
            <a:r>
              <a:rPr lang="es-CL" noProof="0" dirty="0">
                <a:ea typeface="+mj-lt"/>
                <a:cs typeface="+mj-lt"/>
              </a:rPr>
              <a:t> Spark Streaming leyó el </a:t>
            </a:r>
            <a:r>
              <a:rPr lang="es-CL" noProof="0" dirty="0" err="1">
                <a:ea typeface="+mj-lt"/>
                <a:cs typeface="+mj-lt"/>
              </a:rPr>
              <a:t>topic</a:t>
            </a:r>
            <a:r>
              <a:rPr lang="es-CL" noProof="0" dirty="0">
                <a:ea typeface="+mj-lt"/>
                <a:cs typeface="+mj-lt"/>
              </a:rPr>
              <a:t> reteniendo solo lecturas críticas.</a:t>
            </a:r>
            <a:endParaRPr lang="es-CL" noProof="0" dirty="0"/>
          </a:p>
          <a:p>
            <a:pPr algn="just">
              <a:buClr>
                <a:srgbClr val="EF53A5"/>
              </a:buClr>
            </a:pPr>
            <a:r>
              <a:rPr lang="es-CL" b="1" noProof="0" dirty="0">
                <a:ea typeface="+mj-lt"/>
                <a:cs typeface="+mj-lt"/>
              </a:rPr>
              <a:t>Parámetros:</a:t>
            </a:r>
            <a:r>
              <a:rPr lang="es-CL" noProof="0" dirty="0">
                <a:ea typeface="+mj-lt"/>
                <a:cs typeface="+mj-lt"/>
              </a:rPr>
              <a:t> Ventana de sesión de 2 horas y marca de agua de 4 horas.</a:t>
            </a:r>
            <a:endParaRPr lang="es-CL" noProof="0" dirty="0"/>
          </a:p>
          <a:p>
            <a:pPr algn="just">
              <a:buClr>
                <a:srgbClr val="EF53A5"/>
              </a:buClr>
            </a:pPr>
            <a:r>
              <a:rPr lang="es-CL" b="1" noProof="0" dirty="0">
                <a:ea typeface="+mj-lt"/>
                <a:cs typeface="+mj-lt"/>
              </a:rPr>
              <a:t>Detección:</a:t>
            </a:r>
            <a:r>
              <a:rPr lang="es-CL" noProof="0" dirty="0">
                <a:ea typeface="+mj-lt"/>
                <a:cs typeface="+mj-lt"/>
              </a:rPr>
              <a:t> 6 episodios en total (5 en Santiago, 1 en Valparaíso). El más crítico duró 74 horas continuas en Santiago.</a:t>
            </a:r>
            <a:endParaRPr lang="es-CL" noProof="0" dirty="0"/>
          </a:p>
          <a:p>
            <a:pPr>
              <a:buClr>
                <a:srgbClr val="EF53A5"/>
              </a:buClr>
            </a:pPr>
            <a:endParaRPr lang="es-CL" noProof="0" dirty="0"/>
          </a:p>
        </p:txBody>
      </p:sp>
      <p:pic>
        <p:nvPicPr>
          <p:cNvPr id="5" name="Picture 4" descr="Recursos de comunicación - Universidad Autónoma de Chile">
            <a:extLst>
              <a:ext uri="{FF2B5EF4-FFF2-40B4-BE49-F238E27FC236}">
                <a16:creationId xmlns:a16="http://schemas.microsoft.com/office/drawing/2014/main" id="{9D10B9E3-26DB-74DB-63DD-FCA69895BE71}"/>
              </a:ext>
            </a:extLst>
          </p:cNvPr>
          <p:cNvPicPr>
            <a:picLocks noChangeAspect="1"/>
          </p:cNvPicPr>
          <p:nvPr/>
        </p:nvPicPr>
        <p:blipFill>
          <a:blip r:embed="rId2"/>
          <a:stretch>
            <a:fillRect/>
          </a:stretch>
        </p:blipFill>
        <p:spPr>
          <a:xfrm>
            <a:off x="10088730" y="-3509"/>
            <a:ext cx="2101015" cy="1139993"/>
          </a:xfrm>
          <a:prstGeom prst="rect">
            <a:avLst/>
          </a:prstGeom>
        </p:spPr>
      </p:pic>
      <p:pic>
        <p:nvPicPr>
          <p:cNvPr id="4" name="Picture 3">
            <a:extLst>
              <a:ext uri="{FF2B5EF4-FFF2-40B4-BE49-F238E27FC236}">
                <a16:creationId xmlns:a16="http://schemas.microsoft.com/office/drawing/2014/main" id="{2FE1FDBD-EBBF-6FD2-E895-B10409D792B0}"/>
              </a:ext>
            </a:extLst>
          </p:cNvPr>
          <p:cNvPicPr>
            <a:picLocks noChangeAspect="1"/>
          </p:cNvPicPr>
          <p:nvPr/>
        </p:nvPicPr>
        <p:blipFill>
          <a:blip r:embed="rId3"/>
          <a:stretch>
            <a:fillRect/>
          </a:stretch>
        </p:blipFill>
        <p:spPr>
          <a:xfrm>
            <a:off x="5879592" y="2131213"/>
            <a:ext cx="5993388" cy="2765254"/>
          </a:xfrm>
          <a:prstGeom prst="rect">
            <a:avLst/>
          </a:prstGeom>
        </p:spPr>
      </p:pic>
    </p:spTree>
    <p:extLst>
      <p:ext uri="{BB962C8B-B14F-4D97-AF65-F5344CB8AC3E}">
        <p14:creationId xmlns:p14="http://schemas.microsoft.com/office/powerpoint/2010/main" val="1707165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EDA31-8325-6DC4-83AB-42CC47DB17E2}"/>
              </a:ext>
            </a:extLst>
          </p:cNvPr>
          <p:cNvSpPr>
            <a:spLocks noGrp="1"/>
          </p:cNvSpPr>
          <p:nvPr>
            <p:ph type="title"/>
          </p:nvPr>
        </p:nvSpPr>
        <p:spPr/>
        <p:txBody>
          <a:bodyPr/>
          <a:lstStyle/>
          <a:p>
            <a:r>
              <a:rPr lang="es-CL" noProof="0" dirty="0">
                <a:ea typeface="+mj-lt"/>
                <a:cs typeface="+mj-lt"/>
              </a:rPr>
              <a:t>Capa por Lotes</a:t>
            </a:r>
            <a:endParaRPr lang="es-CL" noProof="0" dirty="0"/>
          </a:p>
        </p:txBody>
      </p:sp>
      <p:sp>
        <p:nvSpPr>
          <p:cNvPr id="3" name="Content Placeholder 2">
            <a:extLst>
              <a:ext uri="{FF2B5EF4-FFF2-40B4-BE49-F238E27FC236}">
                <a16:creationId xmlns:a16="http://schemas.microsoft.com/office/drawing/2014/main" id="{81551DD5-CDA9-B7F5-8461-F7CD46A42BB8}"/>
              </a:ext>
            </a:extLst>
          </p:cNvPr>
          <p:cNvSpPr>
            <a:spLocks noGrp="1"/>
          </p:cNvSpPr>
          <p:nvPr>
            <p:ph idx="1"/>
          </p:nvPr>
        </p:nvSpPr>
        <p:spPr>
          <a:xfrm>
            <a:off x="182880" y="2052462"/>
            <a:ext cx="5303520" cy="4023360"/>
          </a:xfrm>
          <a:ln>
            <a:solidFill/>
          </a:ln>
        </p:spPr>
        <p:txBody>
          <a:bodyPr vert="horz" lIns="91440" tIns="45720" rIns="91440" bIns="45720" rtlCol="0" anchor="t">
            <a:normAutofit/>
          </a:bodyPr>
          <a:lstStyle/>
          <a:p>
            <a:pPr algn="just"/>
            <a:r>
              <a:rPr lang="es-CL" b="1" noProof="0" dirty="0">
                <a:ea typeface="+mj-lt"/>
                <a:cs typeface="+mj-lt"/>
              </a:rPr>
              <a:t>Procesamiento:</a:t>
            </a:r>
            <a:r>
              <a:rPr lang="es-CL" noProof="0" dirty="0">
                <a:ea typeface="+mj-lt"/>
                <a:cs typeface="+mj-lt"/>
              </a:rPr>
              <a:t> Lectura del </a:t>
            </a:r>
            <a:r>
              <a:rPr lang="es-CL" noProof="0" dirty="0" err="1">
                <a:ea typeface="+mj-lt"/>
                <a:cs typeface="+mj-lt"/>
              </a:rPr>
              <a:t>topic</a:t>
            </a:r>
            <a:r>
              <a:rPr lang="es-CL" noProof="0" dirty="0">
                <a:ea typeface="+mj-lt"/>
                <a:cs typeface="+mj-lt"/>
              </a:rPr>
              <a:t> completo de una sola vez sin filtros.</a:t>
            </a:r>
            <a:endParaRPr lang="es-CL" noProof="0" dirty="0"/>
          </a:p>
          <a:p>
            <a:pPr algn="just">
              <a:buClr>
                <a:srgbClr val="EF53A5"/>
              </a:buClr>
            </a:pPr>
            <a:r>
              <a:rPr lang="es-CL" b="1" noProof="0" dirty="0">
                <a:ea typeface="+mj-lt"/>
                <a:cs typeface="+mj-lt"/>
              </a:rPr>
              <a:t>Vistas:</a:t>
            </a:r>
            <a:r>
              <a:rPr lang="es-CL" noProof="0" dirty="0">
                <a:ea typeface="+mj-lt"/>
                <a:cs typeface="+mj-lt"/>
              </a:rPr>
              <a:t> Generación de resúmenes diarios y por ciudad en formato Parquet y CSV.</a:t>
            </a:r>
            <a:endParaRPr lang="es-CL" noProof="0" dirty="0"/>
          </a:p>
          <a:p>
            <a:pPr algn="just">
              <a:buClr>
                <a:srgbClr val="EF53A5"/>
              </a:buClr>
            </a:pPr>
            <a:r>
              <a:rPr lang="es-CL" b="1" noProof="0" dirty="0">
                <a:ea typeface="+mj-lt"/>
                <a:cs typeface="+mj-lt"/>
              </a:rPr>
              <a:t>Validación:</a:t>
            </a:r>
            <a:r>
              <a:rPr lang="es-CL" noProof="0" dirty="0">
                <a:ea typeface="+mj-lt"/>
                <a:cs typeface="+mj-lt"/>
              </a:rPr>
              <a:t> El proceso confirmó los 672 eventos y exactamente 111 horas sobre el umbral.</a:t>
            </a:r>
            <a:endParaRPr lang="es-CL" noProof="0" dirty="0"/>
          </a:p>
          <a:p>
            <a:pPr>
              <a:buClr>
                <a:srgbClr val="EF53A5"/>
              </a:buClr>
            </a:pPr>
            <a:endParaRPr lang="es-CL" noProof="0" dirty="0"/>
          </a:p>
        </p:txBody>
      </p:sp>
      <p:pic>
        <p:nvPicPr>
          <p:cNvPr id="5" name="Picture 4" descr="Recursos de comunicación - Universidad Autónoma de Chile">
            <a:extLst>
              <a:ext uri="{FF2B5EF4-FFF2-40B4-BE49-F238E27FC236}">
                <a16:creationId xmlns:a16="http://schemas.microsoft.com/office/drawing/2014/main" id="{E0A5FAD6-B7B6-A60A-DD2D-A889872ADE1E}"/>
              </a:ext>
            </a:extLst>
          </p:cNvPr>
          <p:cNvPicPr>
            <a:picLocks noChangeAspect="1"/>
          </p:cNvPicPr>
          <p:nvPr/>
        </p:nvPicPr>
        <p:blipFill>
          <a:blip r:embed="rId2"/>
          <a:stretch>
            <a:fillRect/>
          </a:stretch>
        </p:blipFill>
        <p:spPr>
          <a:xfrm>
            <a:off x="10088730" y="-3509"/>
            <a:ext cx="2101015" cy="1139993"/>
          </a:xfrm>
          <a:prstGeom prst="rect">
            <a:avLst/>
          </a:prstGeom>
        </p:spPr>
      </p:pic>
      <p:pic>
        <p:nvPicPr>
          <p:cNvPr id="4" name="Picture 3">
            <a:extLst>
              <a:ext uri="{FF2B5EF4-FFF2-40B4-BE49-F238E27FC236}">
                <a16:creationId xmlns:a16="http://schemas.microsoft.com/office/drawing/2014/main" id="{4FB79E2A-452D-46AD-7E9B-F08797FCFD42}"/>
              </a:ext>
            </a:extLst>
          </p:cNvPr>
          <p:cNvPicPr>
            <a:picLocks noChangeAspect="1"/>
          </p:cNvPicPr>
          <p:nvPr/>
        </p:nvPicPr>
        <p:blipFill>
          <a:blip r:embed="rId3"/>
          <a:stretch>
            <a:fillRect/>
          </a:stretch>
        </p:blipFill>
        <p:spPr>
          <a:xfrm>
            <a:off x="5641848" y="2052462"/>
            <a:ext cx="6202724" cy="2510394"/>
          </a:xfrm>
          <a:prstGeom prst="rect">
            <a:avLst/>
          </a:prstGeom>
          <a:ln>
            <a:solidFill/>
          </a:ln>
        </p:spPr>
      </p:pic>
    </p:spTree>
    <p:extLst>
      <p:ext uri="{BB962C8B-B14F-4D97-AF65-F5344CB8AC3E}">
        <p14:creationId xmlns:p14="http://schemas.microsoft.com/office/powerpoint/2010/main" val="3873390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BAB5-C3B2-3B8C-48BF-7B43E80EF7AB}"/>
              </a:ext>
            </a:extLst>
          </p:cNvPr>
          <p:cNvSpPr>
            <a:spLocks noGrp="1"/>
          </p:cNvSpPr>
          <p:nvPr>
            <p:ph type="title"/>
          </p:nvPr>
        </p:nvSpPr>
        <p:spPr/>
        <p:txBody>
          <a:bodyPr/>
          <a:lstStyle/>
          <a:p>
            <a:r>
              <a:rPr lang="es-CL" noProof="0" dirty="0">
                <a:ea typeface="+mj-lt"/>
                <a:cs typeface="+mj-lt"/>
              </a:rPr>
              <a:t>Capa de Servicio</a:t>
            </a:r>
          </a:p>
        </p:txBody>
      </p:sp>
      <p:sp>
        <p:nvSpPr>
          <p:cNvPr id="3" name="Content Placeholder 2">
            <a:extLst>
              <a:ext uri="{FF2B5EF4-FFF2-40B4-BE49-F238E27FC236}">
                <a16:creationId xmlns:a16="http://schemas.microsoft.com/office/drawing/2014/main" id="{F2B4464B-165D-729C-1B9E-BABD46F16B67}"/>
              </a:ext>
            </a:extLst>
          </p:cNvPr>
          <p:cNvSpPr>
            <a:spLocks noGrp="1"/>
          </p:cNvSpPr>
          <p:nvPr>
            <p:ph idx="1"/>
          </p:nvPr>
        </p:nvSpPr>
        <p:spPr/>
        <p:txBody>
          <a:bodyPr vert="horz" lIns="91440" tIns="45720" rIns="91440" bIns="45720" rtlCol="0" anchor="t">
            <a:normAutofit/>
          </a:bodyPr>
          <a:lstStyle/>
          <a:p>
            <a:pPr algn="just"/>
            <a:r>
              <a:rPr lang="es-CL" b="1" noProof="0" dirty="0">
                <a:ea typeface="+mj-lt"/>
                <a:cs typeface="+mj-lt"/>
              </a:rPr>
              <a:t>Unificación:</a:t>
            </a:r>
            <a:r>
              <a:rPr lang="es-CL" noProof="0" dirty="0">
                <a:ea typeface="+mj-lt"/>
                <a:cs typeface="+mj-lt"/>
              </a:rPr>
              <a:t> Las vistas de </a:t>
            </a:r>
            <a:r>
              <a:rPr lang="es-CL" noProof="0" dirty="0" err="1">
                <a:ea typeface="+mj-lt"/>
                <a:cs typeface="+mj-lt"/>
              </a:rPr>
              <a:t>batch</a:t>
            </a:r>
            <a:r>
              <a:rPr lang="es-CL" noProof="0" dirty="0">
                <a:ea typeface="+mj-lt"/>
                <a:cs typeface="+mj-lt"/>
              </a:rPr>
              <a:t> y los episodios de streaming se cargaron en SQLite.</a:t>
            </a:r>
            <a:endParaRPr lang="es-CL" noProof="0" dirty="0"/>
          </a:p>
          <a:p>
            <a:pPr algn="just">
              <a:buClr>
                <a:srgbClr val="EF53A5"/>
              </a:buClr>
            </a:pPr>
            <a:r>
              <a:rPr lang="es-CL" b="1" noProof="0" dirty="0">
                <a:ea typeface="+mj-lt"/>
                <a:cs typeface="+mj-lt"/>
              </a:rPr>
              <a:t>El Cruce: </a:t>
            </a:r>
            <a:r>
              <a:rPr lang="es-CL" noProof="0" dirty="0">
                <a:ea typeface="+mj-lt"/>
                <a:cs typeface="+mj-lt"/>
              </a:rPr>
              <a:t>Esto de acá también actúa como un proceso de verificación.</a:t>
            </a:r>
          </a:p>
          <a:p>
            <a:pPr algn="just">
              <a:buClr>
                <a:srgbClr val="EF53A5"/>
              </a:buClr>
            </a:pPr>
            <a:r>
              <a:rPr lang="es-CL" noProof="0" dirty="0">
                <a:ea typeface="+mj-lt"/>
                <a:cs typeface="+mj-lt"/>
              </a:rPr>
              <a:t>Horas sobre umbral detectadas en Capa Batch: 111.</a:t>
            </a:r>
            <a:endParaRPr lang="es-CL" noProof="0" dirty="0"/>
          </a:p>
          <a:p>
            <a:pPr algn="just">
              <a:buClr>
                <a:srgbClr val="EF53A5"/>
              </a:buClr>
            </a:pPr>
            <a:r>
              <a:rPr lang="es-CL" noProof="0" dirty="0">
                <a:ea typeface="+mj-lt"/>
                <a:cs typeface="+mj-lt"/>
              </a:rPr>
              <a:t>Lecturas contaminadas detectadas en Capa Speed: 111.</a:t>
            </a:r>
            <a:endParaRPr lang="es-CL" noProof="0" dirty="0"/>
          </a:p>
          <a:p>
            <a:pPr algn="just">
              <a:buClr>
                <a:srgbClr val="EF53A5"/>
              </a:buClr>
            </a:pPr>
            <a:r>
              <a:rPr lang="es-CL" b="1" noProof="0" dirty="0">
                <a:ea typeface="+mj-lt"/>
                <a:cs typeface="+mj-lt"/>
              </a:rPr>
              <a:t>Veredicto:</a:t>
            </a:r>
            <a:r>
              <a:rPr lang="es-CL" noProof="0" dirty="0">
                <a:ea typeface="+mj-lt"/>
                <a:cs typeface="+mj-lt"/>
              </a:rPr>
              <a:t> Es que logran coincidir con el uso de la arquitectura de lambda.</a:t>
            </a:r>
            <a:endParaRPr lang="es-CL" noProof="0" dirty="0"/>
          </a:p>
          <a:p>
            <a:pPr>
              <a:buClr>
                <a:srgbClr val="EF53A5"/>
              </a:buClr>
            </a:pPr>
            <a:endParaRPr lang="es-CL" noProof="0" dirty="0"/>
          </a:p>
        </p:txBody>
      </p:sp>
      <p:pic>
        <p:nvPicPr>
          <p:cNvPr id="5" name="Picture 4" descr="Recursos de comunicación - Universidad Autónoma de Chile">
            <a:extLst>
              <a:ext uri="{FF2B5EF4-FFF2-40B4-BE49-F238E27FC236}">
                <a16:creationId xmlns:a16="http://schemas.microsoft.com/office/drawing/2014/main" id="{37B67B13-61AE-8AEA-506A-4EF19E28EABD}"/>
              </a:ext>
            </a:extLst>
          </p:cNvPr>
          <p:cNvPicPr>
            <a:picLocks noChangeAspect="1"/>
          </p:cNvPicPr>
          <p:nvPr/>
        </p:nvPicPr>
        <p:blipFill>
          <a:blip r:embed="rId2"/>
          <a:stretch>
            <a:fillRect/>
          </a:stretch>
        </p:blipFill>
        <p:spPr>
          <a:xfrm>
            <a:off x="10088730" y="-3509"/>
            <a:ext cx="2101015" cy="1139993"/>
          </a:xfrm>
          <a:prstGeom prst="rect">
            <a:avLst/>
          </a:prstGeom>
        </p:spPr>
      </p:pic>
    </p:spTree>
    <p:extLst>
      <p:ext uri="{BB962C8B-B14F-4D97-AF65-F5344CB8AC3E}">
        <p14:creationId xmlns:p14="http://schemas.microsoft.com/office/powerpoint/2010/main" val="2328581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28276-99F5-5DA0-1833-57F2974521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ECB09-3E79-3B3D-7519-1AC1180BBFF5}"/>
              </a:ext>
            </a:extLst>
          </p:cNvPr>
          <p:cNvSpPr>
            <a:spLocks noGrp="1"/>
          </p:cNvSpPr>
          <p:nvPr>
            <p:ph type="title"/>
          </p:nvPr>
        </p:nvSpPr>
        <p:spPr/>
        <p:txBody>
          <a:bodyPr/>
          <a:lstStyle/>
          <a:p>
            <a:r>
              <a:rPr lang="es-CL" noProof="0" dirty="0">
                <a:ea typeface="+mj-lt"/>
                <a:cs typeface="+mj-lt"/>
              </a:rPr>
              <a:t>Las dos ramas contaron lo mismo </a:t>
            </a:r>
          </a:p>
        </p:txBody>
      </p:sp>
      <p:pic>
        <p:nvPicPr>
          <p:cNvPr id="5" name="Picture 4" descr="Recursos de comunicación - Universidad Autónoma de Chile">
            <a:extLst>
              <a:ext uri="{FF2B5EF4-FFF2-40B4-BE49-F238E27FC236}">
                <a16:creationId xmlns:a16="http://schemas.microsoft.com/office/drawing/2014/main" id="{9E220D8E-35E2-F4AB-9972-02A31A7392C5}"/>
              </a:ext>
            </a:extLst>
          </p:cNvPr>
          <p:cNvPicPr>
            <a:picLocks noChangeAspect="1"/>
          </p:cNvPicPr>
          <p:nvPr/>
        </p:nvPicPr>
        <p:blipFill>
          <a:blip r:embed="rId2"/>
          <a:stretch>
            <a:fillRect/>
          </a:stretch>
        </p:blipFill>
        <p:spPr>
          <a:xfrm>
            <a:off x="10088730" y="-3509"/>
            <a:ext cx="2101015" cy="1139993"/>
          </a:xfrm>
          <a:prstGeom prst="rect">
            <a:avLst/>
          </a:prstGeom>
        </p:spPr>
      </p:pic>
      <p:pic>
        <p:nvPicPr>
          <p:cNvPr id="8" name="Picture 5" descr="image.png">
            <a:extLst>
              <a:ext uri="{FF2B5EF4-FFF2-40B4-BE49-F238E27FC236}">
                <a16:creationId xmlns:a16="http://schemas.microsoft.com/office/drawing/2014/main" id="{FADA165B-09FE-AE2C-D63B-380ACC1B5D43}"/>
              </a:ext>
            </a:extLst>
          </p:cNvPr>
          <p:cNvPicPr>
            <a:picLocks noGrp="1" noChangeAspect="1"/>
          </p:cNvPicPr>
          <p:nvPr>
            <p:ph idx="1"/>
          </p:nvPr>
        </p:nvPicPr>
        <p:blipFill>
          <a:blip r:embed="rId3"/>
          <a:stretch>
            <a:fillRect/>
          </a:stretch>
        </p:blipFill>
        <p:spPr>
          <a:xfrm>
            <a:off x="2897378" y="1136484"/>
            <a:ext cx="6397243" cy="5348401"/>
          </a:xfrm>
          <a:prstGeom prst="rect">
            <a:avLst/>
          </a:prstGeom>
          <a:ln>
            <a:solidFill/>
          </a:ln>
        </p:spPr>
      </p:pic>
    </p:spTree>
    <p:extLst>
      <p:ext uri="{BB962C8B-B14F-4D97-AF65-F5344CB8AC3E}">
        <p14:creationId xmlns:p14="http://schemas.microsoft.com/office/powerpoint/2010/main" val="512090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EE83B-D5A3-C930-54C2-C1602583CAE8}"/>
              </a:ext>
            </a:extLst>
          </p:cNvPr>
          <p:cNvSpPr>
            <a:spLocks noGrp="1"/>
          </p:cNvSpPr>
          <p:nvPr>
            <p:ph type="title"/>
          </p:nvPr>
        </p:nvSpPr>
        <p:spPr/>
        <p:txBody>
          <a:bodyPr/>
          <a:lstStyle/>
          <a:p>
            <a:r>
              <a:rPr lang="es-CL" noProof="0" dirty="0">
                <a:ea typeface="+mj-lt"/>
                <a:cs typeface="+mj-lt"/>
              </a:rPr>
              <a:t>Desafíos Técnicos</a:t>
            </a:r>
            <a:endParaRPr lang="es-CL" noProof="0" dirty="0"/>
          </a:p>
        </p:txBody>
      </p:sp>
      <p:sp>
        <p:nvSpPr>
          <p:cNvPr id="3" name="Content Placeholder 2">
            <a:extLst>
              <a:ext uri="{FF2B5EF4-FFF2-40B4-BE49-F238E27FC236}">
                <a16:creationId xmlns:a16="http://schemas.microsoft.com/office/drawing/2014/main" id="{7E9FC13B-36D4-A9CF-2C58-8C98033F0232}"/>
              </a:ext>
            </a:extLst>
          </p:cNvPr>
          <p:cNvSpPr>
            <a:spLocks noGrp="1"/>
          </p:cNvSpPr>
          <p:nvPr>
            <p:ph idx="1"/>
          </p:nvPr>
        </p:nvSpPr>
        <p:spPr/>
        <p:txBody>
          <a:bodyPr vert="horz" lIns="91440" tIns="45720" rIns="91440" bIns="45720" rtlCol="0" anchor="t">
            <a:normAutofit/>
          </a:bodyPr>
          <a:lstStyle/>
          <a:p>
            <a:pPr algn="just"/>
            <a:r>
              <a:rPr lang="es-CL" b="1" noProof="0" dirty="0">
                <a:ea typeface="+mj-lt"/>
                <a:cs typeface="+mj-lt"/>
              </a:rPr>
              <a:t>Conflicto con Java:</a:t>
            </a:r>
            <a:r>
              <a:rPr lang="es-CL" noProof="0" dirty="0">
                <a:ea typeface="+mj-lt"/>
                <a:cs typeface="+mj-lt"/>
              </a:rPr>
              <a:t> Windows priorizaba Java 20; se forzó la variable </a:t>
            </a:r>
            <a:r>
              <a:rPr lang="es-CL" noProof="0" dirty="0">
                <a:latin typeface="Consolas"/>
              </a:rPr>
              <a:t>JAVA_HOME</a:t>
            </a:r>
            <a:r>
              <a:rPr lang="es-CL" noProof="0" dirty="0">
                <a:ea typeface="+mj-lt"/>
                <a:cs typeface="+mj-lt"/>
              </a:rPr>
              <a:t> hacia </a:t>
            </a:r>
            <a:r>
              <a:rPr lang="es-CL" noProof="0" dirty="0" err="1">
                <a:ea typeface="+mj-lt"/>
                <a:cs typeface="+mj-lt"/>
              </a:rPr>
              <a:t>Temurin</a:t>
            </a:r>
            <a:r>
              <a:rPr lang="es-CL" noProof="0" dirty="0">
                <a:ea typeface="+mj-lt"/>
                <a:cs typeface="+mj-lt"/>
              </a:rPr>
              <a:t> 17 antes de iniciar </a:t>
            </a:r>
            <a:r>
              <a:rPr lang="es-CL" noProof="0" dirty="0" err="1">
                <a:ea typeface="+mj-lt"/>
                <a:cs typeface="+mj-lt"/>
              </a:rPr>
              <a:t>PySpark</a:t>
            </a:r>
            <a:r>
              <a:rPr lang="es-CL" noProof="0" dirty="0">
                <a:ea typeface="+mj-lt"/>
                <a:cs typeface="+mj-lt"/>
              </a:rPr>
              <a:t>.</a:t>
            </a:r>
            <a:endParaRPr lang="es-CL" noProof="0" dirty="0"/>
          </a:p>
          <a:p>
            <a:pPr algn="just">
              <a:buClr>
                <a:srgbClr val="EF53A5"/>
              </a:buClr>
            </a:pPr>
            <a:r>
              <a:rPr lang="es-CL" b="1" noProof="0" dirty="0">
                <a:ea typeface="+mj-lt"/>
                <a:cs typeface="+mj-lt"/>
              </a:rPr>
              <a:t>Bloqueos de Scripts:</a:t>
            </a:r>
            <a:r>
              <a:rPr lang="es-CL" noProof="0" dirty="0">
                <a:ea typeface="+mj-lt"/>
                <a:cs typeface="+mj-lt"/>
              </a:rPr>
              <a:t> Se levantaron temporalmente los permisos de Windows Defender usando </a:t>
            </a:r>
            <a:r>
              <a:rPr lang="es-CL" noProof="0" dirty="0">
                <a:latin typeface="Consolas"/>
              </a:rPr>
              <a:t>Set-</a:t>
            </a:r>
            <a:r>
              <a:rPr lang="es-CL" noProof="0" dirty="0" err="1">
                <a:latin typeface="Consolas"/>
              </a:rPr>
              <a:t>ExecutionPolicy</a:t>
            </a:r>
            <a:r>
              <a:rPr lang="es-CL" noProof="0" dirty="0">
                <a:latin typeface="Consolas"/>
              </a:rPr>
              <a:t> Bypass</a:t>
            </a:r>
            <a:r>
              <a:rPr lang="es-CL" noProof="0" dirty="0">
                <a:ea typeface="+mj-lt"/>
                <a:cs typeface="+mj-lt"/>
              </a:rPr>
              <a:t> sin alterar la seguridad global.</a:t>
            </a:r>
            <a:endParaRPr lang="es-CL" noProof="0" dirty="0"/>
          </a:p>
          <a:p>
            <a:pPr algn="just">
              <a:buClr>
                <a:srgbClr val="EF53A5"/>
              </a:buClr>
            </a:pPr>
            <a:r>
              <a:rPr lang="es-CL" b="1" noProof="0" dirty="0">
                <a:ea typeface="+mj-lt"/>
                <a:cs typeface="+mj-lt"/>
              </a:rPr>
              <a:t>Errores Parquet:</a:t>
            </a:r>
            <a:r>
              <a:rPr lang="es-CL" noProof="0" dirty="0">
                <a:ea typeface="+mj-lt"/>
                <a:cs typeface="+mj-lt"/>
              </a:rPr>
              <a:t> Se solucionaron validando la presencia de </a:t>
            </a:r>
            <a:r>
              <a:rPr lang="es-CL" noProof="0" dirty="0" err="1">
                <a:latin typeface="Consolas"/>
              </a:rPr>
              <a:t>winutils</a:t>
            </a:r>
            <a:r>
              <a:rPr lang="es-CL" noProof="0" dirty="0">
                <a:ea typeface="+mj-lt"/>
                <a:cs typeface="+mj-lt"/>
              </a:rPr>
              <a:t> y configurando </a:t>
            </a:r>
            <a:r>
              <a:rPr lang="es-CL" noProof="0" dirty="0">
                <a:latin typeface="Consolas"/>
              </a:rPr>
              <a:t>HADOOP_HOME</a:t>
            </a:r>
            <a:r>
              <a:rPr lang="es-CL" noProof="0" dirty="0">
                <a:ea typeface="+mj-lt"/>
                <a:cs typeface="+mj-lt"/>
              </a:rPr>
              <a:t>.</a:t>
            </a:r>
            <a:endParaRPr lang="es-CL" noProof="0" dirty="0"/>
          </a:p>
          <a:p>
            <a:pPr>
              <a:buClr>
                <a:srgbClr val="EF53A5"/>
              </a:buClr>
            </a:pPr>
            <a:endParaRPr lang="es-CL" noProof="0" dirty="0"/>
          </a:p>
        </p:txBody>
      </p:sp>
      <p:pic>
        <p:nvPicPr>
          <p:cNvPr id="5" name="Picture 4" descr="Recursos de comunicación - Universidad Autónoma de Chile">
            <a:extLst>
              <a:ext uri="{FF2B5EF4-FFF2-40B4-BE49-F238E27FC236}">
                <a16:creationId xmlns:a16="http://schemas.microsoft.com/office/drawing/2014/main" id="{6E9E37F3-EFE1-6E33-E1D0-F3803279F57A}"/>
              </a:ext>
            </a:extLst>
          </p:cNvPr>
          <p:cNvPicPr>
            <a:picLocks noChangeAspect="1"/>
          </p:cNvPicPr>
          <p:nvPr/>
        </p:nvPicPr>
        <p:blipFill>
          <a:blip r:embed="rId2"/>
          <a:stretch>
            <a:fillRect/>
          </a:stretch>
        </p:blipFill>
        <p:spPr>
          <a:xfrm>
            <a:off x="10088730" y="-3509"/>
            <a:ext cx="2101015" cy="1139993"/>
          </a:xfrm>
          <a:prstGeom prst="rect">
            <a:avLst/>
          </a:prstGeom>
        </p:spPr>
      </p:pic>
    </p:spTree>
    <p:extLst>
      <p:ext uri="{BB962C8B-B14F-4D97-AF65-F5344CB8AC3E}">
        <p14:creationId xmlns:p14="http://schemas.microsoft.com/office/powerpoint/2010/main" val="418240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F81D0-6C44-1208-36EA-FF3A01F71444}"/>
              </a:ext>
            </a:extLst>
          </p:cNvPr>
          <p:cNvSpPr>
            <a:spLocks noGrp="1"/>
          </p:cNvSpPr>
          <p:nvPr>
            <p:ph type="title"/>
          </p:nvPr>
        </p:nvSpPr>
        <p:spPr/>
        <p:txBody>
          <a:bodyPr/>
          <a:lstStyle/>
          <a:p>
            <a:r>
              <a:rPr lang="es-CL" noProof="0" dirty="0">
                <a:ea typeface="+mj-lt"/>
                <a:cs typeface="+mj-lt"/>
              </a:rPr>
              <a:t>Conclusiones</a:t>
            </a:r>
            <a:endParaRPr lang="es-CL" noProof="0" dirty="0"/>
          </a:p>
        </p:txBody>
      </p:sp>
      <p:sp>
        <p:nvSpPr>
          <p:cNvPr id="3" name="Content Placeholder 2">
            <a:extLst>
              <a:ext uri="{FF2B5EF4-FFF2-40B4-BE49-F238E27FC236}">
                <a16:creationId xmlns:a16="http://schemas.microsoft.com/office/drawing/2014/main" id="{C1ABCBD3-1B25-D23C-3278-C6D3C74E6E15}"/>
              </a:ext>
            </a:extLst>
          </p:cNvPr>
          <p:cNvSpPr>
            <a:spLocks noGrp="1"/>
          </p:cNvSpPr>
          <p:nvPr>
            <p:ph idx="1"/>
          </p:nvPr>
        </p:nvSpPr>
        <p:spPr/>
        <p:txBody>
          <a:bodyPr vert="horz" lIns="91440" tIns="45720" rIns="91440" bIns="45720" rtlCol="0" anchor="t">
            <a:normAutofit/>
          </a:bodyPr>
          <a:lstStyle/>
          <a:p>
            <a:pPr algn="just"/>
            <a:r>
              <a:rPr lang="es-CL" noProof="0" dirty="0"/>
              <a:t>Pipeline reproducible y auditable.</a:t>
            </a:r>
          </a:p>
          <a:p>
            <a:pPr algn="just">
              <a:buClr>
                <a:srgbClr val="EF53A5"/>
              </a:buClr>
            </a:pPr>
            <a:r>
              <a:rPr lang="es-CL" noProof="0" dirty="0"/>
              <a:t>Arquitectura verificada por sí misma en el  cruce de servicio.</a:t>
            </a:r>
          </a:p>
          <a:p>
            <a:pPr algn="just">
              <a:buClr>
                <a:srgbClr val="EF53A5"/>
              </a:buClr>
            </a:pPr>
            <a:r>
              <a:rPr lang="es-CL" noProof="0" dirty="0"/>
              <a:t>Cumplimiento del objetivo: exactitud histórica y latencia de respuesta trabajando juntas gracias a la arquitectura Lambda.</a:t>
            </a:r>
          </a:p>
        </p:txBody>
      </p:sp>
      <p:pic>
        <p:nvPicPr>
          <p:cNvPr id="5" name="Picture 4" descr="Recursos de comunicación - Universidad Autónoma de Chile">
            <a:extLst>
              <a:ext uri="{FF2B5EF4-FFF2-40B4-BE49-F238E27FC236}">
                <a16:creationId xmlns:a16="http://schemas.microsoft.com/office/drawing/2014/main" id="{96264272-B1E8-D81E-2AA8-0940C6479DA8}"/>
              </a:ext>
            </a:extLst>
          </p:cNvPr>
          <p:cNvPicPr>
            <a:picLocks noChangeAspect="1"/>
          </p:cNvPicPr>
          <p:nvPr/>
        </p:nvPicPr>
        <p:blipFill>
          <a:blip r:embed="rId2"/>
          <a:stretch>
            <a:fillRect/>
          </a:stretch>
        </p:blipFill>
        <p:spPr>
          <a:xfrm>
            <a:off x="10088730" y="-3509"/>
            <a:ext cx="2101015" cy="1139993"/>
          </a:xfrm>
          <a:prstGeom prst="rect">
            <a:avLst/>
          </a:prstGeom>
        </p:spPr>
      </p:pic>
    </p:spTree>
    <p:extLst>
      <p:ext uri="{BB962C8B-B14F-4D97-AF65-F5344CB8AC3E}">
        <p14:creationId xmlns:p14="http://schemas.microsoft.com/office/powerpoint/2010/main" val="2160288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F0C3C7-3AE6-84A8-6488-0DBCB3D0F06D}"/>
              </a:ext>
            </a:extLst>
          </p:cNvPr>
          <p:cNvSpPr>
            <a:spLocks noGrp="1"/>
          </p:cNvSpPr>
          <p:nvPr>
            <p:ph type="title"/>
          </p:nvPr>
        </p:nvSpPr>
        <p:spPr/>
        <p:txBody>
          <a:bodyPr/>
          <a:lstStyle/>
          <a:p>
            <a:r>
              <a:rPr lang="es-CL" dirty="0"/>
              <a:t>Bibliografía </a:t>
            </a:r>
          </a:p>
        </p:txBody>
      </p:sp>
      <p:sp>
        <p:nvSpPr>
          <p:cNvPr id="3" name="Marcador de contenido 2">
            <a:extLst>
              <a:ext uri="{FF2B5EF4-FFF2-40B4-BE49-F238E27FC236}">
                <a16:creationId xmlns:a16="http://schemas.microsoft.com/office/drawing/2014/main" id="{96C5757C-6CC9-4B6A-1788-D0977A7E5FB0}"/>
              </a:ext>
            </a:extLst>
          </p:cNvPr>
          <p:cNvSpPr>
            <a:spLocks noGrp="1"/>
          </p:cNvSpPr>
          <p:nvPr>
            <p:ph idx="1"/>
          </p:nvPr>
        </p:nvSpPr>
        <p:spPr>
          <a:xfrm>
            <a:off x="896080" y="1386123"/>
            <a:ext cx="10399840" cy="5197557"/>
          </a:xfrm>
        </p:spPr>
        <p:txBody>
          <a:bodyPr>
            <a:normAutofit fontScale="55000" lnSpcReduction="20000"/>
          </a:bodyPr>
          <a:lstStyle/>
          <a:p>
            <a:pPr fontAlgn="base"/>
            <a:r>
              <a:rPr lang="en-US" dirty="0" err="1"/>
              <a:t>Akidau</a:t>
            </a:r>
            <a:r>
              <a:rPr lang="en-US" dirty="0"/>
              <a:t>, T., Bradshaw, R., C., Chernyak, S., Fernández-Moctezuma, R. J. Lax., R., McVeety, S., (2015). The dataflow model: A practical approach to balancing correctness, latency, and cost in massive-scale, unbounded, out-of-order data processing. Proceedings of the VLDB Endowment, 8, 1792-1803. </a:t>
            </a:r>
            <a:r>
              <a:rPr lang="en-US" u="sng" dirty="0">
                <a:hlinkClick r:id="rId2"/>
              </a:rPr>
              <a:t>https://doi.org/10.14778/2824032.2824076</a:t>
            </a:r>
            <a:r>
              <a:rPr lang="es-CL" dirty="0"/>
              <a:t> </a:t>
            </a:r>
          </a:p>
          <a:p>
            <a:pPr fontAlgn="base"/>
            <a:r>
              <a:rPr lang="en-US" dirty="0"/>
              <a:t>Apache Software Foundation. (s. f.). Apache Kafka documentation. </a:t>
            </a:r>
            <a:r>
              <a:rPr lang="en-US" u="sng" dirty="0">
                <a:hlinkClick r:id="rId3"/>
              </a:rPr>
              <a:t>https://kafka.apache.org/documentation</a:t>
            </a:r>
            <a:r>
              <a:rPr lang="es-CL" dirty="0"/>
              <a:t> </a:t>
            </a:r>
          </a:p>
          <a:p>
            <a:pPr fontAlgn="base"/>
            <a:r>
              <a:rPr lang="en-US" dirty="0"/>
              <a:t>Apache Software Foundation. (s. f.) Apache Parquet. </a:t>
            </a:r>
            <a:r>
              <a:rPr lang="en-US" u="sng" dirty="0">
                <a:hlinkClick r:id="rId4"/>
              </a:rPr>
              <a:t>https://parquet.apache.org/docs</a:t>
            </a:r>
            <a:r>
              <a:rPr lang="es-CL" dirty="0"/>
              <a:t> </a:t>
            </a:r>
          </a:p>
          <a:p>
            <a:pPr fontAlgn="base"/>
            <a:r>
              <a:rPr lang="en-US" dirty="0"/>
              <a:t>Apache Software Foundation. (s. f.) Kraft vs </a:t>
            </a:r>
            <a:r>
              <a:rPr lang="en-US" dirty="0" err="1"/>
              <a:t>ZooKeeper</a:t>
            </a:r>
            <a:r>
              <a:rPr lang="en-US" dirty="0"/>
              <a:t>. Apache Kafka 4.0 </a:t>
            </a:r>
            <a:r>
              <a:rPr lang="en-US" u="sng" dirty="0">
                <a:hlinkClick r:id="rId5"/>
              </a:rPr>
              <a:t>https://kafka.apache.org/40/getting.started/zk2kraft</a:t>
            </a:r>
            <a:r>
              <a:rPr lang="es-CL" dirty="0"/>
              <a:t> </a:t>
            </a:r>
          </a:p>
          <a:p>
            <a:pPr fontAlgn="base"/>
            <a:r>
              <a:rPr lang="en-US" dirty="0"/>
              <a:t>Apache Software Foundation. (s. f.) Structured Streaming programming guide. Apache Spark </a:t>
            </a:r>
            <a:r>
              <a:rPr lang="en-US" u="sng" dirty="0">
                <a:hlinkClick r:id="rId6"/>
              </a:rPr>
              <a:t>https://spark.apache.org/docs/latest/streaming/index.html</a:t>
            </a:r>
            <a:r>
              <a:rPr lang="es-CL" dirty="0"/>
              <a:t> </a:t>
            </a:r>
          </a:p>
          <a:p>
            <a:pPr fontAlgn="base"/>
            <a:r>
              <a:rPr lang="en-US" dirty="0"/>
              <a:t>Barcelona Supercomputing Center. (2022). CAMS European air quality forecasts, ENSEMBLE data. Copernicus Atmosphere Monitoring Service (CAMS) Atmosphere Data Store.</a:t>
            </a:r>
            <a:r>
              <a:rPr lang="es-CL" dirty="0"/>
              <a:t> </a:t>
            </a:r>
          </a:p>
          <a:p>
            <a:pPr fontAlgn="base"/>
            <a:r>
              <a:rPr lang="en-US" dirty="0"/>
              <a:t>Kreps, J. (2014, 2 de </a:t>
            </a:r>
            <a:r>
              <a:rPr lang="en-US" dirty="0" err="1"/>
              <a:t>julio</a:t>
            </a:r>
            <a:r>
              <a:rPr lang="en-US" dirty="0"/>
              <a:t>). Questioning the Lambda architecture. O’Reilly </a:t>
            </a:r>
            <a:r>
              <a:rPr lang="en-US" u="sng" dirty="0">
                <a:hlinkClick r:id="rId7"/>
              </a:rPr>
              <a:t>https://www.oreilly.com/radar/questioning-the-lambda-architecture</a:t>
            </a:r>
            <a:r>
              <a:rPr lang="es-CL" dirty="0"/>
              <a:t> </a:t>
            </a:r>
          </a:p>
          <a:p>
            <a:pPr fontAlgn="base"/>
            <a:r>
              <a:rPr lang="en-US" dirty="0"/>
              <a:t>Kreps, J., Narkhede, N., &amp; Rao, J. (2011). Kafka: A distributed messaging system for log processing. NetDB’11, Athens, Greek.</a:t>
            </a:r>
            <a:r>
              <a:rPr lang="es-CL" dirty="0"/>
              <a:t> </a:t>
            </a:r>
          </a:p>
          <a:p>
            <a:pPr fontAlgn="base"/>
            <a:r>
              <a:rPr lang="en-US" dirty="0"/>
              <a:t>Marz, N., &amp; Warren, J. (2015). Big Data: Principles and best practices of scalable </a:t>
            </a:r>
            <a:r>
              <a:rPr lang="en-US" dirty="0" err="1"/>
              <a:t>realtime</a:t>
            </a:r>
            <a:r>
              <a:rPr lang="en-US" dirty="0"/>
              <a:t> data systems. Manning Publications. </a:t>
            </a:r>
            <a:r>
              <a:rPr lang="en-US" u="sng" dirty="0">
                <a:hlinkClick r:id="rId8"/>
              </a:rPr>
              <a:t>https://www.manning.com/books/big-data</a:t>
            </a:r>
            <a:r>
              <a:rPr lang="es-CL" dirty="0"/>
              <a:t> </a:t>
            </a:r>
          </a:p>
          <a:p>
            <a:pPr fontAlgn="base"/>
            <a:r>
              <a:rPr lang="es-ES" dirty="0"/>
              <a:t>Ministerio del Medio Ambiente de Chile. (2011). Decreto Supremo </a:t>
            </a:r>
            <a:r>
              <a:rPr lang="es-ES" dirty="0" err="1"/>
              <a:t>N.°</a:t>
            </a:r>
            <a:r>
              <a:rPr lang="es-ES" dirty="0"/>
              <a:t> 12, que establece la Norma Primaria de Calidad Ambiental para Material Particulado Fino Respirable MP2,5. Biblioteca del Congreso Nacional de Chile. </a:t>
            </a:r>
            <a:r>
              <a:rPr lang="es-ES" u="sng" dirty="0">
                <a:hlinkClick r:id="rId9"/>
              </a:rPr>
              <a:t>https://www.bcn.cl/leychile/navegar?idNorma=1025202</a:t>
            </a:r>
            <a:r>
              <a:rPr lang="es-CL" dirty="0"/>
              <a:t> </a:t>
            </a:r>
          </a:p>
          <a:p>
            <a:pPr fontAlgn="base"/>
            <a:r>
              <a:rPr lang="en-US" dirty="0"/>
              <a:t>National Institute of </a:t>
            </a:r>
            <a:r>
              <a:rPr lang="en-US" dirty="0" err="1"/>
              <a:t>Standars</a:t>
            </a:r>
            <a:r>
              <a:rPr lang="en-US" dirty="0"/>
              <a:t> and Technology. (2015). FIPS PUB 180-4: Secure hash standard (SHS). U.S. Department of Commerce. </a:t>
            </a:r>
            <a:r>
              <a:rPr lang="en-US" u="sng" dirty="0">
                <a:hlinkClick r:id="rId10"/>
              </a:rPr>
              <a:t>https://doi.org/10.6028/NIST.FIPS.180-4</a:t>
            </a:r>
            <a:r>
              <a:rPr lang="es-CL" dirty="0"/>
              <a:t> </a:t>
            </a:r>
          </a:p>
          <a:p>
            <a:pPr fontAlgn="base"/>
            <a:r>
              <a:rPr lang="en-US" dirty="0"/>
              <a:t>Open-</a:t>
            </a:r>
            <a:r>
              <a:rPr lang="en-US" dirty="0" err="1"/>
              <a:t>Meteo</a:t>
            </a:r>
            <a:r>
              <a:rPr lang="en-US" dirty="0"/>
              <a:t>. (s. f.). Air Quality API. </a:t>
            </a:r>
            <a:r>
              <a:rPr lang="en-US" u="sng" dirty="0">
                <a:hlinkClick r:id="rId11"/>
              </a:rPr>
              <a:t>https://open-mete.com/en/docs/air-quality-api</a:t>
            </a:r>
            <a:r>
              <a:rPr lang="es-CL" dirty="0"/>
              <a:t> </a:t>
            </a:r>
          </a:p>
          <a:p>
            <a:pPr fontAlgn="base"/>
            <a:r>
              <a:rPr lang="en-US" dirty="0"/>
              <a:t>SQLite. (s. f.). About SQLite. </a:t>
            </a:r>
            <a:r>
              <a:rPr lang="en-US" u="sng" dirty="0">
                <a:hlinkClick r:id="rId12"/>
              </a:rPr>
              <a:t>https://sqlite.org/about.html</a:t>
            </a:r>
            <a:r>
              <a:rPr lang="es-CL" dirty="0"/>
              <a:t> </a:t>
            </a:r>
          </a:p>
          <a:p>
            <a:pPr fontAlgn="base"/>
            <a:r>
              <a:rPr lang="en-US" dirty="0"/>
              <a:t>World Health Organization. (2006). Air quality guidelines: Global update 2005: Particulate matter, ozone, nitrogen dioxide and sulfur dioxide. WHO Regional Office for Europe. </a:t>
            </a:r>
            <a:r>
              <a:rPr lang="en-US" u="sng" dirty="0">
                <a:hlinkClick r:id="rId13"/>
              </a:rPr>
              <a:t>https://www.who.int/europe/publications/i/item/9289021926</a:t>
            </a:r>
            <a:r>
              <a:rPr lang="es-CL" dirty="0"/>
              <a:t> </a:t>
            </a:r>
          </a:p>
          <a:p>
            <a:pPr fontAlgn="base"/>
            <a:r>
              <a:rPr lang="en-US" dirty="0"/>
              <a:t>Worl Health Organization. (2021). WHO global air quality guidelines: Particulate matter (PM2.5 and PM10), ozone, nitrogen dioxide, sulfur dioxide and carbon monoxide. </a:t>
            </a:r>
            <a:r>
              <a:rPr lang="en-US" u="sng" dirty="0">
                <a:hlinkClick r:id="rId14"/>
              </a:rPr>
              <a:t>https://www.who.int/publications/i/item/9789240034228</a:t>
            </a:r>
            <a:r>
              <a:rPr lang="es-CL" dirty="0"/>
              <a:t> </a:t>
            </a:r>
          </a:p>
          <a:p>
            <a:endParaRPr lang="es-CL" dirty="0"/>
          </a:p>
        </p:txBody>
      </p:sp>
    </p:spTree>
    <p:extLst>
      <p:ext uri="{BB962C8B-B14F-4D97-AF65-F5344CB8AC3E}">
        <p14:creationId xmlns:p14="http://schemas.microsoft.com/office/powerpoint/2010/main" val="34251650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
  <TotalTime>23</TotalTime>
  <Words>1349</Words>
  <Application>Microsoft Office PowerPoint</Application>
  <PresentationFormat>Panorámica</PresentationFormat>
  <Paragraphs>73</Paragraphs>
  <Slides>14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Arial</vt:lpstr>
      <vt:lpstr>Calibri</vt:lpstr>
      <vt:lpstr>Century Gothic</vt:lpstr>
      <vt:lpstr>Consolas</vt:lpstr>
      <vt:lpstr>Wingdings 3</vt:lpstr>
      <vt:lpstr>Ion</vt:lpstr>
      <vt:lpstr>Laboratorio 3: Arquitectura Lambda para el monitoreo y análisis de la calidad del aire.</vt:lpstr>
      <vt:lpstr>El Problema y Nuestro Objetivo</vt:lpstr>
      <vt:lpstr>¿Por qué Lambda frente a Kappa o Lakehouse?</vt:lpstr>
      <vt:lpstr>Arquitectura Lambda: Diseño y Justificación</vt:lpstr>
      <vt:lpstr>El dato entra y se bifurca en el topic </vt:lpstr>
      <vt:lpstr>Entorno y Materiales</vt:lpstr>
      <vt:lpstr>Ingesta de Datos</vt:lpstr>
      <vt:lpstr>Capa de Velocidad</vt:lpstr>
      <vt:lpstr>Capa por Lotes</vt:lpstr>
      <vt:lpstr>Capa de Servicio</vt:lpstr>
      <vt:lpstr>Las dos ramas contaron lo mismo </vt:lpstr>
      <vt:lpstr>Desafíos Técnicos</vt:lpstr>
      <vt:lpstr>Conclusiones</vt:lpstr>
      <vt:lpstr>Bibliografía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Ignacio Antonio Ampuero Chacón</cp:lastModifiedBy>
  <cp:revision>6</cp:revision>
  <dcterms:created xsi:type="dcterms:W3CDTF">2026-10-03T17:44:43Z</dcterms:created>
  <dcterms:modified xsi:type="dcterms:W3CDTF">2026-10-05T02:26:28Z</dcterms:modified>
</cp:coreProperties>
</file>